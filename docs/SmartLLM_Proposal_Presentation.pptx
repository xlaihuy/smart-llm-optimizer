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5303520" cy="384048"/>
          </a:xfrm>
          <a:prstGeom prst="roundRect">
            <a:avLst/>
          </a:prstGeom>
          <a:solidFill>
            <a:srgbClr val="1A365D"/>
          </a:solidFill>
          <a:ln w="15240">
            <a:solidFill>
              <a:srgbClr val="007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5212080" cy="320040"/>
          </a:xfrm>
          <a:prstGeom prst="rect">
            <a:avLst/>
          </a:prstGeom>
          <a:noFill/>
        </p:spPr>
        <p:txBody>
          <a:bodyPr wrap="none">
            <a:spAutoFit/>
          </a:bodyPr>
          <a:lstStyle/>
          <a:p>
            <a:pPr>
              <a:defRPr sz="1050" b="1">
                <a:solidFill>
                  <a:srgbClr val="00B4D8"/>
                </a:solidFill>
                <a:latin typeface="Segoe UI"/>
              </a:defRPr>
            </a:pPr>
            <a:r>
              <a:t>★ OLYMPIC TIN HỌC SINH VIÊN · KHỐI PHẦN MỀM NGUỒN MỞ (PMNM)</a:t>
            </a:r>
          </a:p>
        </p:txBody>
      </p:sp>
      <p:sp>
        <p:nvSpPr>
          <p:cNvPr id="5" name="TextBox 4"/>
          <p:cNvSpPr txBox="1"/>
          <p:nvPr/>
        </p:nvSpPr>
        <p:spPr>
          <a:xfrm>
            <a:off x="731520" y="1417320"/>
            <a:ext cx="10698480" cy="2011680"/>
          </a:xfrm>
          <a:prstGeom prst="rect">
            <a:avLst/>
          </a:prstGeom>
          <a:noFill/>
        </p:spPr>
        <p:txBody>
          <a:bodyPr wrap="square">
            <a:spAutoFit/>
          </a:bodyPr>
          <a:lstStyle/>
          <a:p>
            <a:pPr>
              <a:spcAft>
                <a:spcPts val="600"/>
              </a:spcAft>
              <a:defRPr sz="3800" b="1">
                <a:solidFill>
                  <a:srgbClr val="FFFFFF"/>
                </a:solidFill>
                <a:latin typeface="Segoe UI"/>
              </a:defRPr>
            </a:pPr>
            <a:r>
              <a:t>Smart LLM Optimizer</a:t>
            </a:r>
          </a:p>
          <a:p>
            <a:pPr>
              <a:spcAft>
                <a:spcPts val="1200"/>
              </a:spcAft>
              <a:defRPr sz="2600" b="1">
                <a:solidFill>
                  <a:srgbClr val="00B4D8"/>
                </a:solidFill>
                <a:latin typeface="Segoe UI"/>
              </a:defRPr>
            </a:pPr>
            <a:r>
              <a:t>Tối Ưu Hiệu Quả Sử Dụng Mô Hình Ngôn Ngữ Lớn</a:t>
            </a:r>
          </a:p>
          <a:p>
            <a:pPr>
              <a:defRPr sz="1300">
                <a:solidFill>
                  <a:srgbClr val="CBD5E1"/>
                </a:solidFill>
                <a:latin typeface="Segoe UI"/>
              </a:defRPr>
            </a:pPr>
            <a:r>
              <a:t>Nền tảng nguồn mở hỗ trợ định tuyến AI đa mục tiêu Pareto, nén ngữ cảnh bảo toàn thực thể và quản lý bộ nhớ hội thoại tự thích ứng ngân sách.</a:t>
            </a:r>
          </a:p>
        </p:txBody>
      </p:sp>
      <p:sp>
        <p:nvSpPr>
          <p:cNvPr id="6" name="Rounded Rectangle 5"/>
          <p:cNvSpPr/>
          <p:nvPr/>
        </p:nvSpPr>
        <p:spPr>
          <a:xfrm>
            <a:off x="731520" y="3931920"/>
            <a:ext cx="10698480" cy="2103120"/>
          </a:xfrm>
          <a:prstGeom prst="roundRect">
            <a:avLst/>
          </a:prstGeom>
          <a:solidFill>
            <a:srgbClr val="1A365D"/>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069080"/>
            <a:ext cx="10149840" cy="1828800"/>
          </a:xfrm>
          <a:prstGeom prst="rect">
            <a:avLst/>
          </a:prstGeom>
          <a:noFill/>
        </p:spPr>
        <p:txBody>
          <a:bodyPr wrap="square">
            <a:spAutoFit/>
          </a:bodyPr>
          <a:lstStyle/>
          <a:p>
            <a:pPr>
              <a:spcAft>
                <a:spcPts val="1000"/>
              </a:spcAft>
              <a:defRPr sz="1100" b="1">
                <a:solidFill>
                  <a:srgbClr val="00B4D8"/>
                </a:solidFill>
                <a:latin typeface="Segoe UI"/>
              </a:defRPr>
            </a:pPr>
            <a:r>
              <a:t>NHÓM TÁC GIẢ NGHIÊN CỨU &amp; PHÁT TRIỂN · TRƯỜNG ĐẠI HỌC MỞ THÀNH PHỐ HỒ CHÍ MINH</a:t>
            </a:r>
          </a:p>
          <a:p>
            <a:pPr>
              <a:spcAft>
                <a:spcPts val="500"/>
              </a:spcAft>
              <a:defRPr sz="1150">
                <a:solidFill>
                  <a:srgbClr val="FFFFFF"/>
                </a:solidFill>
                <a:latin typeface="Segoe UI"/>
              </a:defRPr>
            </a:pPr>
            <a:r>
              <a:t>•  Phan Cao Huy (Đội trưởng) — MSSV: 2351010075  |  Phụ trách: Kiến trúc sư trưởng, ML Router CPU, Pareto Optimization &amp; Storage</a:t>
            </a:r>
          </a:p>
          <a:p>
            <a:pPr>
              <a:spcAft>
                <a:spcPts val="500"/>
              </a:spcAft>
              <a:defRPr sz="1150">
                <a:solidFill>
                  <a:srgbClr val="FFFFFF"/>
                </a:solidFill>
                <a:latin typeface="Segoe UI"/>
              </a:defRPr>
            </a:pPr>
            <a:r>
              <a:t>•  Trần Đăng Khoa — MSSV: 2354050055  |  Phụ trách: Kỹ sư Bộ nhớ hội thoại, Phân tầng ngữ cảnh &amp; Đánh giá Benchmark</a:t>
            </a:r>
          </a:p>
          <a:p>
            <a:pPr>
              <a:spcAft>
                <a:spcPts val="500"/>
              </a:spcAft>
              <a:defRPr sz="1150">
                <a:solidFill>
                  <a:srgbClr val="FFFFFF"/>
                </a:solidFill>
                <a:latin typeface="Segoe UI"/>
              </a:defRPr>
            </a:pPr>
            <a:r>
              <a:t>•  Nguyễn Quốc Minh Tân — MSSV: 2351010191  |  Phụ trách: Kỹ sư Nén ngữ cảnh thích ứng &amp; Kiểm định bảo toàn thực thể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TỔNG QUAN ĐỀ TÀI</a:t>
            </a:r>
          </a:p>
          <a:p>
            <a:pPr>
              <a:defRPr sz="2200" b="1">
                <a:solidFill>
                  <a:srgbClr val="0A2540"/>
                </a:solidFill>
                <a:latin typeface="Segoe UI"/>
              </a:defRPr>
            </a:pPr>
            <a:r>
              <a:t>Executive Summary: Giải Pháp Toàn Diện Tối Ưu Hóa LLM</a:t>
            </a:r>
          </a:p>
          <a:p>
            <a:pPr>
              <a:spcBef>
                <a:spcPts val="200"/>
              </a:spcBef>
              <a:defRPr sz="1200">
                <a:solidFill>
                  <a:srgbClr val="64748B"/>
                </a:solidFill>
                <a:latin typeface="Segoe UI"/>
              </a:defRPr>
            </a:pPr>
            <a:r>
              <a:t>Đột phá kết hợp giữa phân loại Attention siêu nhẹ, tối ưu Pareto 3D và vũ trụ 3 mô hình hỗ trợ.</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02 / 16</a:t>
            </a:r>
          </a:p>
        </p:txBody>
      </p:sp>
      <p:sp>
        <p:nvSpPr>
          <p:cNvPr id="5" name="Rounded Rectangle 4"/>
          <p:cNvSpPr/>
          <p:nvPr/>
        </p:nvSpPr>
        <p:spPr>
          <a:xfrm>
            <a:off x="731520" y="1645920"/>
            <a:ext cx="338328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17520" cy="1554480"/>
          </a:xfrm>
          <a:prstGeom prst="rect">
            <a:avLst/>
          </a:prstGeom>
          <a:noFill/>
        </p:spPr>
        <p:txBody>
          <a:bodyPr wrap="square">
            <a:spAutoFit/>
          </a:bodyPr>
          <a:lstStyle/>
          <a:p>
            <a:pPr>
              <a:defRPr sz="3600" b="1">
                <a:solidFill>
                  <a:srgbClr val="10B981"/>
                </a:solidFill>
                <a:latin typeface="Segoe UI"/>
              </a:defRPr>
            </a:pPr>
            <a:r>
              <a:t>-81.0%</a:t>
            </a:r>
          </a:p>
          <a:p>
            <a:pPr>
              <a:spcAft>
                <a:spcPts val="300"/>
              </a:spcAft>
              <a:defRPr sz="1250" b="1">
                <a:solidFill>
                  <a:srgbClr val="0A2540"/>
                </a:solidFill>
                <a:latin typeface="Segoe UI"/>
              </a:defRPr>
            </a:pPr>
            <a:r>
              <a:t>Tiết Kiệm Chi Phí API</a:t>
            </a:r>
          </a:p>
          <a:p>
            <a:pPr>
              <a:defRPr sz="950">
                <a:solidFill>
                  <a:srgbClr val="64748B"/>
                </a:solidFill>
                <a:latin typeface="Segoe UI"/>
              </a:defRPr>
            </a:pPr>
            <a:r>
              <a:t>Giảm từ $1.850 xuống $0.351 / 1K requests thương mại. Đạt 100% tiết kiệm trên Free-Tier.</a:t>
            </a:r>
          </a:p>
        </p:txBody>
      </p:sp>
      <p:sp>
        <p:nvSpPr>
          <p:cNvPr id="7" name="Rounded Rectangle 6"/>
          <p:cNvSpPr/>
          <p:nvPr/>
        </p:nvSpPr>
        <p:spPr>
          <a:xfrm>
            <a:off x="4389120" y="1645920"/>
            <a:ext cx="338328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17520" cy="1554480"/>
          </a:xfrm>
          <a:prstGeom prst="rect">
            <a:avLst/>
          </a:prstGeom>
          <a:noFill/>
        </p:spPr>
        <p:txBody>
          <a:bodyPr wrap="square">
            <a:spAutoFit/>
          </a:bodyPr>
          <a:lstStyle/>
          <a:p>
            <a:pPr>
              <a:defRPr sz="3600" b="1">
                <a:solidFill>
                  <a:srgbClr val="0070F3"/>
                </a:solidFill>
                <a:latin typeface="Segoe UI"/>
              </a:defRPr>
            </a:pPr>
            <a:r>
              <a:t>-64.3%</a:t>
            </a:r>
          </a:p>
          <a:p>
            <a:pPr>
              <a:spcAft>
                <a:spcPts val="300"/>
              </a:spcAft>
              <a:defRPr sz="1250" b="1">
                <a:solidFill>
                  <a:srgbClr val="0A2540"/>
                </a:solidFill>
                <a:latin typeface="Segoe UI"/>
              </a:defRPr>
            </a:pPr>
            <a:r>
              <a:t>Cắt Giảm Độ Trễ Phản Hồi</a:t>
            </a:r>
          </a:p>
          <a:p>
            <a:pPr>
              <a:defRPr sz="950">
                <a:solidFill>
                  <a:srgbClr val="64748B"/>
                </a:solidFill>
                <a:latin typeface="Segoe UI"/>
              </a:defRPr>
            </a:pPr>
            <a:r>
              <a:t>Thời gian phản hồi P50 giảm từ 420ms xuống 150ms nhờ định tuyến mô hình nhỏ cục bộ.</a:t>
            </a:r>
          </a:p>
        </p:txBody>
      </p:sp>
      <p:sp>
        <p:nvSpPr>
          <p:cNvPr id="9" name="Rounded Rectangle 8"/>
          <p:cNvSpPr/>
          <p:nvPr/>
        </p:nvSpPr>
        <p:spPr>
          <a:xfrm>
            <a:off x="8046720" y="1645920"/>
            <a:ext cx="338328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017520" cy="1554480"/>
          </a:xfrm>
          <a:prstGeom prst="rect">
            <a:avLst/>
          </a:prstGeom>
          <a:noFill/>
        </p:spPr>
        <p:txBody>
          <a:bodyPr wrap="square">
            <a:spAutoFit/>
          </a:bodyPr>
          <a:lstStyle/>
          <a:p>
            <a:pPr>
              <a:defRPr sz="3600" b="1">
                <a:solidFill>
                  <a:srgbClr val="0A2540"/>
                </a:solidFill>
                <a:latin typeface="Segoe UI"/>
              </a:defRPr>
            </a:pPr>
            <a:r>
              <a:t>98.4%</a:t>
            </a:r>
          </a:p>
          <a:p>
            <a:pPr>
              <a:spcAft>
                <a:spcPts val="300"/>
              </a:spcAft>
              <a:defRPr sz="1250" b="1">
                <a:solidFill>
                  <a:srgbClr val="0A2540"/>
                </a:solidFill>
                <a:latin typeface="Segoe UI"/>
              </a:defRPr>
            </a:pPr>
            <a:r>
              <a:t>Duy Trì Độ Chính Xác (Pass)</a:t>
            </a:r>
          </a:p>
          <a:p>
            <a:pPr>
              <a:defRPr sz="950">
                <a:solidFill>
                  <a:srgbClr val="64748B"/>
                </a:solidFill>
                <a:latin typeface="Segoe UI"/>
              </a:defRPr>
            </a:pPr>
            <a:r>
              <a:t>Vượt trội hơn +1.0% so với Baseline mô hình lớn đơn lẻ trên 500 bài test tiếng Việt.</a:t>
            </a:r>
          </a:p>
        </p:txBody>
      </p:sp>
      <p:sp>
        <p:nvSpPr>
          <p:cNvPr id="11" name="Rounded Rectangle 10"/>
          <p:cNvSpPr/>
          <p:nvPr/>
        </p:nvSpPr>
        <p:spPr>
          <a:xfrm>
            <a:off x="731520" y="3611880"/>
            <a:ext cx="10698480" cy="2651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749039"/>
            <a:ext cx="10241280" cy="2377440"/>
          </a:xfrm>
          <a:prstGeom prst="rect">
            <a:avLst/>
          </a:prstGeom>
          <a:noFill/>
        </p:spPr>
        <p:txBody>
          <a:bodyPr wrap="square">
            <a:spAutoFit/>
          </a:bodyPr>
          <a:lstStyle/>
          <a:p>
            <a:pPr>
              <a:spcAft>
                <a:spcPts val="800"/>
              </a:spcAft>
              <a:defRPr sz="1300" b="1">
                <a:solidFill>
                  <a:srgbClr val="0070F3"/>
                </a:solidFill>
                <a:latin typeface="Segoe UI"/>
              </a:defRPr>
            </a:pPr>
            <a:r>
              <a:t>4 ĐỘT PHÁ KỸ THUẬT NGUYÊN GỐC (TECHNICAL CONTRIBUTIONS)</a:t>
            </a:r>
          </a:p>
          <a:p>
            <a:pPr>
              <a:spcAft>
                <a:spcPts val="300"/>
              </a:spcAft>
              <a:defRPr sz="1050">
                <a:solidFill>
                  <a:srgbClr val="1E293B"/>
                </a:solidFill>
                <a:latin typeface="Segoe UI"/>
              </a:defRPr>
            </a:pPr>
            <a:r>
              <a:t>•  1. Attention Multi-Label Router (&lt;0.2ms): Mô hình phân loại 6 chiều năng lực chạy thuần NumPy CPU, kết hợp hiệu chỉnh độ trôi Platt/Isotonic ép ECE &lt; 0.04.</a:t>
            </a:r>
          </a:p>
          <a:p>
            <a:pPr>
              <a:spcAft>
                <a:spcPts val="300"/>
              </a:spcAft>
              <a:defRPr sz="1050">
                <a:solidFill>
                  <a:srgbClr val="1E293B"/>
                </a:solidFill>
                <a:latin typeface="Segoe UI"/>
              </a:defRPr>
            </a:pPr>
            <a:r>
              <a:t>•  2. Dynamic Pareto Frontier 3D &amp; 3-Model Universe: Sàng lọc không gian đánh đổi Chi phí × Độ trễ × Chất lượng cho GPT-OSS 20B, GPT-6 Luna và GPT-OSS 120B Reference.</a:t>
            </a:r>
          </a:p>
          <a:p>
            <a:pPr>
              <a:spcAft>
                <a:spcPts val="300"/>
              </a:spcAft>
              <a:defRPr sz="1050">
                <a:solidFill>
                  <a:srgbClr val="1E293B"/>
                </a:solidFill>
                <a:latin typeface="Segoe UI"/>
              </a:defRPr>
            </a:pPr>
            <a:r>
              <a:t>•  3. Semantic Entity Preservation Guardrail: Tự động nén prompt giảm 45.2% token; kiểm soát giữ nguyên vẹn &gt;=95% thực thể số/luật/code, khôi phục an toàn nếu lệch nghĩa.</a:t>
            </a:r>
          </a:p>
          <a:p>
            <a:pPr>
              <a:spcAft>
                <a:spcPts val="300"/>
              </a:spcAft>
              <a:defRPr sz="1050">
                <a:solidFill>
                  <a:srgbClr val="1E293B"/>
                </a:solidFill>
                <a:latin typeface="Segoe UI"/>
              </a:defRPr>
            </a:pPr>
            <a:r>
              <a:t>•  4. Cascaded Incomplete Failover Chaining: Bảo lưu toàn bộ token đã sinh khi gặp lỗi cắt dở (finish_reason: length), chuyển giao tức thì sang 120B Reference mà không gọi lại từ đầu.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BỐI CẢNH NGHIÊN CỨU</a:t>
            </a:r>
          </a:p>
          <a:p>
            <a:pPr>
              <a:defRPr sz="2200" b="1">
                <a:solidFill>
                  <a:srgbClr val="0A2540"/>
                </a:solidFill>
                <a:latin typeface="Segoe UI"/>
              </a:defRPr>
            </a:pPr>
            <a:r>
              <a:t>Thực Trạng Triển Khai LLM &amp; Nghịch Lý 'One-Size-Fits-All'</a:t>
            </a:r>
          </a:p>
          <a:p>
            <a:pPr>
              <a:spcBef>
                <a:spcPts val="200"/>
              </a:spcBef>
              <a:defRPr sz="1200">
                <a:solidFill>
                  <a:srgbClr val="64748B"/>
                </a:solidFill>
                <a:latin typeface="Segoe UI"/>
              </a:defRPr>
            </a:pPr>
            <a:r>
              <a:t>Lãng phí ngân sách và sự thiếu hụt công cụ tối ưu hóa chuyên sâu cho tiếng Việt.</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03 / 16</a:t>
            </a:r>
          </a:p>
        </p:txBody>
      </p:sp>
      <p:sp>
        <p:nvSpPr>
          <p:cNvPr id="5" name="Rounded Rectangle 4"/>
          <p:cNvSpPr/>
          <p:nvPr/>
        </p:nvSpPr>
        <p:spPr>
          <a:xfrm>
            <a:off x="731520" y="1645920"/>
            <a:ext cx="521208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206240"/>
          </a:xfrm>
          <a:prstGeom prst="rect">
            <a:avLst/>
          </a:prstGeom>
          <a:noFill/>
        </p:spPr>
        <p:txBody>
          <a:bodyPr wrap="square">
            <a:spAutoFit/>
          </a:bodyPr>
          <a:lstStyle/>
          <a:p>
            <a:pPr>
              <a:spcAft>
                <a:spcPts val="1000"/>
              </a:spcAft>
              <a:defRPr sz="1350" b="1">
                <a:solidFill>
                  <a:srgbClr val="DC2626"/>
                </a:solidFill>
                <a:latin typeface="Segoe UI"/>
              </a:defRPr>
            </a:pPr>
            <a:r>
              <a:t>NGHỊCH LÝ 'ONE-SIZE-FITS-ALL' TRONG GENAI</a:t>
            </a:r>
          </a:p>
          <a:p>
            <a:pPr>
              <a:spcAft>
                <a:spcPts val="800"/>
              </a:spcAft>
              <a:defRPr sz="1100">
                <a:solidFill>
                  <a:srgbClr val="1E293B"/>
                </a:solidFill>
                <a:latin typeface="Segoe UI"/>
              </a:defRPr>
            </a:pPr>
            <a:r>
              <a:t>•  Lãng phí tài nguyên thương mại: Hầu hết ứng dụng hiện nay gửi 100% truy vấn về mô hình 120B hoặc frontier đắt đỏ, gây gánh nặng hàng nghìn USD mỗi tháng.</a:t>
            </a:r>
          </a:p>
          <a:p>
            <a:pPr>
              <a:spcAft>
                <a:spcPts val="800"/>
              </a:spcAft>
              <a:defRPr sz="1100">
                <a:solidFill>
                  <a:srgbClr val="1E293B"/>
                </a:solidFill>
                <a:latin typeface="Segoe UI"/>
              </a:defRPr>
            </a:pPr>
            <a:r>
              <a:t>•  65% Truy vấn là tác vụ cơ bản: Khảo sát thực tế: &gt;65% câu hỏi chỉ là tính toán ngắn, trích xuất dữ kiện, tóm tắt — hoàn toàn giải quyết tốt bởi GPT-OSS 20B và GPT-6 Luna với chi phí rẻ hơn 5-15 lần.</a:t>
            </a:r>
          </a:p>
          <a:p>
            <a:pPr>
              <a:spcAft>
                <a:spcPts val="800"/>
              </a:spcAft>
              <a:defRPr sz="1100">
                <a:solidFill>
                  <a:srgbClr val="1E293B"/>
                </a:solidFill>
                <a:latin typeface="Segoe UI"/>
              </a:defRPr>
            </a:pPr>
            <a:r>
              <a:t>•  Rào cản ngân sách tại Việt Nam: Các trường đại học, bệnh viện và SME gặp trở ngại lớn khi mở rộng AI phục vụ cộng đồng vì chi phí token tăng tuyến tính.</a:t>
            </a:r>
          </a:p>
        </p:txBody>
      </p:sp>
      <p:sp>
        <p:nvSpPr>
          <p:cNvPr id="7" name="Rounded Rectangle 6"/>
          <p:cNvSpPr/>
          <p:nvPr/>
        </p:nvSpPr>
        <p:spPr>
          <a:xfrm>
            <a:off x="6217920" y="1645920"/>
            <a:ext cx="5212080" cy="4572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spcAft>
                <a:spcPts val="1000"/>
              </a:spcAft>
              <a:defRPr sz="1350" b="1">
                <a:solidFill>
                  <a:srgbClr val="0070F3"/>
                </a:solidFill>
                <a:latin typeface="Segoe UI"/>
              </a:defRPr>
            </a:pPr>
            <a:r>
              <a:t>KHOẢNG TRỐNG KỸ THUẬT &amp; ĐẦU BÀI ĐỀ TÀI</a:t>
            </a:r>
          </a:p>
          <a:p>
            <a:pPr>
              <a:spcAft>
                <a:spcPts val="800"/>
              </a:spcAft>
              <a:defRPr sz="1100">
                <a:solidFill>
                  <a:srgbClr val="1E293B"/>
                </a:solidFill>
                <a:latin typeface="Segoe UI"/>
              </a:defRPr>
            </a:pPr>
            <a:r>
              <a:t>•  Thiếu hụt Router tiếng Việt: Các công trình thế giới (RouteLLM, FrugalGPT) chỉ huấn luyện trên tiếng Anh; thất bại khi gặp từ ghép và ngữ cảnh văn hóa tiếng Việt.</a:t>
            </a:r>
          </a:p>
          <a:p>
            <a:pPr>
              <a:spcAft>
                <a:spcPts val="800"/>
              </a:spcAft>
              <a:defRPr sz="1100">
                <a:solidFill>
                  <a:srgbClr val="1E293B"/>
                </a:solidFill>
                <a:latin typeface="Segoe UI"/>
              </a:defRPr>
            </a:pPr>
            <a:r>
              <a:t>•  Hiện tượng trôi độ tin cậy (Drift): Mô hình quốc tế đánh giá sai năng lực trên tiếng Việt do đặc thù ngữ pháp, dẫn đến sai sót khi chọn mô hình nhỏ.</a:t>
            </a:r>
          </a:p>
          <a:p>
            <a:pPr>
              <a:spcAft>
                <a:spcPts val="800"/>
              </a:spcAft>
              <a:defRPr sz="1100">
                <a:solidFill>
                  <a:srgbClr val="1E293B"/>
                </a:solidFill>
                <a:latin typeface="Segoe UI"/>
              </a:defRPr>
            </a:pPr>
            <a:r>
              <a:t>•  Yêu cầu đầu bài nghiên cứu chính thức: 'Xây dựng nền tảng hỗ trợ lựa chọn mô hình AI, tối ưu prompt, rút gọn ngữ cảnh và quản lý lịch sử hội thoại nhằm giảm lượng token, chi phí và thời gian phản hồi mà vẫn duy trì chất lượng đầu 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PHÂN TÍCH THÁCH THỨC</a:t>
            </a:r>
          </a:p>
          <a:p>
            <a:pPr>
              <a:defRPr sz="2200" b="1">
                <a:solidFill>
                  <a:srgbClr val="0A2540"/>
                </a:solidFill>
                <a:latin typeface="Segoe UI"/>
              </a:defRPr>
            </a:pPr>
            <a:r>
              <a:t>4 Thách Thức Nghiên Cứu Lớn Cần Giải Quyết</a:t>
            </a:r>
          </a:p>
          <a:p>
            <a:pPr>
              <a:spcBef>
                <a:spcPts val="200"/>
              </a:spcBef>
              <a:defRPr sz="1200">
                <a:solidFill>
                  <a:srgbClr val="64748B"/>
                </a:solidFill>
                <a:latin typeface="Segoe UI"/>
              </a:defRPr>
            </a:pPr>
            <a:r>
              <a:t>Các nút thắt kỹ thuật chưa có lời giải thỏa đáng trong các nghiên cứu hiện tại.</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04 / 16</a:t>
            </a:r>
          </a:p>
        </p:txBody>
      </p:sp>
      <p:sp>
        <p:nvSpPr>
          <p:cNvPr id="5" name="Rounded Rectangle 4"/>
          <p:cNvSpPr/>
          <p:nvPr/>
        </p:nvSpPr>
        <p:spPr>
          <a:xfrm>
            <a:off x="731520" y="164592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1828800"/>
          </a:xfrm>
          <a:prstGeom prst="rect">
            <a:avLst/>
          </a:prstGeom>
          <a:noFill/>
        </p:spPr>
        <p:txBody>
          <a:bodyPr wrap="square">
            <a:spAutoFit/>
          </a:bodyPr>
          <a:lstStyle/>
          <a:p>
            <a:pPr>
              <a:spcAft>
                <a:spcPts val="600"/>
              </a:spcAft>
              <a:defRPr sz="1300" b="1">
                <a:solidFill>
                  <a:srgbClr val="0A2540"/>
                </a:solidFill>
                <a:latin typeface="Segoe UI"/>
              </a:defRPr>
            </a:pPr>
            <a:r>
              <a:t>THÁCH THỨC 1  |  Calibration Drift Tiếng Việt</a:t>
            </a:r>
          </a:p>
          <a:p>
            <a:pPr>
              <a:defRPr sz="1050">
                <a:solidFill>
                  <a:srgbClr val="1E293B"/>
                </a:solidFill>
                <a:latin typeface="Segoe UI"/>
              </a:defRPr>
            </a:pPr>
            <a:r>
              <a:t>Router hiện đại bị tự tin thái quá (over-confidence). Dự đoán tự tin 95% nhưng thực tế chỉ đạt 70% trên câu hỏi tiếng Việt, sai số ECE &gt; 0.18 do ngữ pháp đa tầng nghĩa.</a:t>
            </a:r>
          </a:p>
        </p:txBody>
      </p:sp>
      <p:sp>
        <p:nvSpPr>
          <p:cNvPr id="7" name="Rounded Rectangle 6"/>
          <p:cNvSpPr/>
          <p:nvPr/>
        </p:nvSpPr>
        <p:spPr>
          <a:xfrm>
            <a:off x="6217920" y="164592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1828800"/>
          </a:xfrm>
          <a:prstGeom prst="rect">
            <a:avLst/>
          </a:prstGeom>
          <a:noFill/>
        </p:spPr>
        <p:txBody>
          <a:bodyPr wrap="square">
            <a:spAutoFit/>
          </a:bodyPr>
          <a:lstStyle/>
          <a:p>
            <a:pPr>
              <a:spcAft>
                <a:spcPts val="600"/>
              </a:spcAft>
              <a:defRPr sz="1300" b="1">
                <a:solidFill>
                  <a:srgbClr val="0070F3"/>
                </a:solidFill>
                <a:latin typeface="Segoe UI"/>
              </a:defRPr>
            </a:pPr>
            <a:r>
              <a:t>THÁCH THỨC 2  |  Nghẽn Độ Trễ Router (&gt;50ms)</a:t>
            </a:r>
          </a:p>
          <a:p>
            <a:pPr>
              <a:defRPr sz="1050">
                <a:solidFill>
                  <a:srgbClr val="1E293B"/>
                </a:solidFill>
                <a:latin typeface="Segoe UI"/>
              </a:defRPr>
            </a:pPr>
            <a:r>
              <a:t>Router dựa trên Transformer/BERT cần GPU và mất 50ms - 200ms để phân loại, làm triệt tiêu hoàn toàn lợi thế thời gian phản hồi từ đầu tiên (TTFT) của mô hình nhỏ.</a:t>
            </a:r>
          </a:p>
        </p:txBody>
      </p:sp>
      <p:sp>
        <p:nvSpPr>
          <p:cNvPr id="9" name="Rounded Rectangle 8"/>
          <p:cNvSpPr/>
          <p:nvPr/>
        </p:nvSpPr>
        <p:spPr>
          <a:xfrm>
            <a:off x="731520" y="3977639"/>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60519"/>
            <a:ext cx="4754880" cy="1828800"/>
          </a:xfrm>
          <a:prstGeom prst="rect">
            <a:avLst/>
          </a:prstGeom>
          <a:noFill/>
        </p:spPr>
        <p:txBody>
          <a:bodyPr wrap="square">
            <a:spAutoFit/>
          </a:bodyPr>
          <a:lstStyle/>
          <a:p>
            <a:pPr>
              <a:spcAft>
                <a:spcPts val="600"/>
              </a:spcAft>
              <a:defRPr sz="1300" b="1">
                <a:solidFill>
                  <a:srgbClr val="F59E0B"/>
                </a:solidFill>
                <a:latin typeface="Segoe UI"/>
              </a:defRPr>
            </a:pPr>
            <a:r>
              <a:t>THÁCH THỨC 3  |  Rơi Rụng Thực Thể Khi Nén</a:t>
            </a:r>
          </a:p>
          <a:p>
            <a:pPr>
              <a:defRPr sz="1050">
                <a:solidFill>
                  <a:srgbClr val="1E293B"/>
                </a:solidFill>
                <a:latin typeface="Segoe UI"/>
              </a:defRPr>
            </a:pPr>
            <a:r>
              <a:t>Thuật toán nén entropy từ vựng thông thường làm mất số liệu định lượng, điều luật, công thức toán và code, làm đảo ngược nghiêm trọng ý nghĩa pháp lý và kỹ thuật.</a:t>
            </a:r>
          </a:p>
        </p:txBody>
      </p:sp>
      <p:sp>
        <p:nvSpPr>
          <p:cNvPr id="11" name="Rounded Rectangle 10"/>
          <p:cNvSpPr/>
          <p:nvPr/>
        </p:nvSpPr>
        <p:spPr>
          <a:xfrm>
            <a:off x="6217920" y="3977639"/>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60519"/>
            <a:ext cx="4754880" cy="1828800"/>
          </a:xfrm>
          <a:prstGeom prst="rect">
            <a:avLst/>
          </a:prstGeom>
          <a:noFill/>
        </p:spPr>
        <p:txBody>
          <a:bodyPr wrap="square">
            <a:spAutoFit/>
          </a:bodyPr>
          <a:lstStyle/>
          <a:p>
            <a:pPr>
              <a:spcAft>
                <a:spcPts val="600"/>
              </a:spcAft>
              <a:defRPr sz="1300" b="1">
                <a:solidFill>
                  <a:srgbClr val="DC2626"/>
                </a:solidFill>
                <a:latin typeface="Segoe UI"/>
              </a:defRPr>
            </a:pPr>
            <a:r>
              <a:t>THÁCH THỨC 4  |  Lỗi Cắt Cụt Token (OUTPUT_INCOMPLETE)</a:t>
            </a:r>
          </a:p>
          <a:p>
            <a:pPr>
              <a:defRPr sz="1050">
                <a:solidFill>
                  <a:srgbClr val="1E293B"/>
                </a:solidFill>
                <a:latin typeface="Segoe UI"/>
              </a:defRPr>
            </a:pPr>
            <a:r>
              <a:t>Mô hình nhỏ sinh câu trả lời chạm trần max_tokens hoặc nghẽn ngữ cảnh. Người dùng nhận câu trả lời cụt lủn, và 100% token đã sinh bị vứt bỏ lãng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ĐỘT PHÁ KỸ THUẬT 1</a:t>
            </a:r>
          </a:p>
          <a:p>
            <a:pPr>
              <a:defRPr sz="2200" b="1">
                <a:solidFill>
                  <a:srgbClr val="0A2540"/>
                </a:solidFill>
                <a:latin typeface="Segoe UI"/>
              </a:defRPr>
            </a:pPr>
            <a:r>
              <a:t>Attention Multi-Label Classifier &amp; Drift Calibration</a:t>
            </a:r>
          </a:p>
          <a:p>
            <a:pPr>
              <a:spcBef>
                <a:spcPts val="200"/>
              </a:spcBef>
              <a:defRPr sz="1200">
                <a:solidFill>
                  <a:srgbClr val="64748B"/>
                </a:solidFill>
                <a:latin typeface="Segoe UI"/>
              </a:defRPr>
            </a:pPr>
            <a:r>
              <a:t>Phân loại 6 chiều năng lực siêu tốc CPU &lt;0.2ms kết hợp hiệu chỉnh độ tin cậy ECE &lt; 0.04.</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05 / 16</a:t>
            </a:r>
          </a:p>
        </p:txBody>
      </p:sp>
      <p:pic>
        <p:nvPicPr>
          <p:cNvPr id="5" name="Picture 4" descr="fig_attention_radar.png"/>
          <p:cNvPicPr>
            <a:picLocks noChangeAspect="1"/>
          </p:cNvPicPr>
          <p:nvPr/>
        </p:nvPicPr>
        <p:blipFill>
          <a:blip r:embed="rId2"/>
          <a:stretch>
            <a:fillRect/>
          </a:stretch>
        </p:blipFill>
        <p:spPr>
          <a:xfrm>
            <a:off x="731520" y="1691640"/>
            <a:ext cx="5212080" cy="4142232"/>
          </a:xfrm>
          <a:prstGeom prst="rect">
            <a:avLst/>
          </a:prstGeom>
        </p:spPr>
      </p:pic>
      <p:sp>
        <p:nvSpPr>
          <p:cNvPr id="6" name="Rounded Rectangle 5"/>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06240"/>
          </a:xfrm>
          <a:prstGeom prst="rect">
            <a:avLst/>
          </a:prstGeom>
          <a:noFill/>
        </p:spPr>
        <p:txBody>
          <a:bodyPr wrap="square">
            <a:spAutoFit/>
          </a:bodyPr>
          <a:lstStyle/>
          <a:p>
            <a:pPr>
              <a:spcAft>
                <a:spcPts val="800"/>
              </a:spcAft>
              <a:defRPr sz="1350" b="1">
                <a:solidFill>
                  <a:srgbClr val="0A2540"/>
                </a:solidFill>
                <a:latin typeface="Segoe UI"/>
              </a:defRPr>
            </a:pPr>
            <a:r>
              <a:t>CƠ CHẾ PHÂN LOẠI &amp; HIỆU CHUẨN XÁC SUẤT</a:t>
            </a:r>
          </a:p>
          <a:p>
            <a:pPr>
              <a:spcAft>
                <a:spcPts val="500"/>
              </a:spcAft>
              <a:defRPr sz="1050">
                <a:solidFill>
                  <a:srgbClr val="1E293B"/>
                </a:solidFill>
                <a:latin typeface="Segoe UI"/>
              </a:defRPr>
            </a:pPr>
            <a:r>
              <a:t>•  6 Ma trận truy vấn năng lực: Phân loại chính xác 6 nhóm tác vụ: Toán ngắn, Trích xuất, Hỏi đáp thường, Tóm tắt, Nhiều bước vừa, và Suy luận khó.</a:t>
            </a:r>
          </a:p>
          <a:p>
            <a:pPr>
              <a:spcAft>
                <a:spcPts val="500"/>
              </a:spcAft>
              <a:defRPr sz="1050">
                <a:solidFill>
                  <a:srgbClr val="1E293B"/>
                </a:solidFill>
                <a:latin typeface="Segoe UI"/>
              </a:defRPr>
            </a:pPr>
            <a:r>
              <a:t>•  Tốc độ kỷ lục trên NumPy CPU (&lt;0.2ms): Vector hóa 100% bằng phép nhân ma trận thuần NumPy. Độ trễ P50 = 0.08ms, P90 &lt; 0.18ms, hoàn toàn không cần GPU.</a:t>
            </a:r>
          </a:p>
          <a:p>
            <a:pPr>
              <a:spcAft>
                <a:spcPts val="500"/>
              </a:spcAft>
              <a:defRPr sz="1050">
                <a:solidFill>
                  <a:srgbClr val="1E293B"/>
                </a:solidFill>
                <a:latin typeface="Segoe UI"/>
              </a:defRPr>
            </a:pPr>
            <a:r>
              <a:t>•  Hiệu chuẩn độ trôi kép (Platt + Isotonic): Đo lường sai số Expected Calibration Error (ECE) qua 10 phân hoạch; hồi quy đơn điệu phi tham số ép ECE từ 0.184 xuống 0.038 (&lt;0.04).</a:t>
            </a:r>
          </a:p>
          <a:p>
            <a:pPr>
              <a:spcAft>
                <a:spcPts val="500"/>
              </a:spcAft>
              <a:defRPr sz="1050">
                <a:solidFill>
                  <a:srgbClr val="1E293B"/>
                </a:solidFill>
                <a:latin typeface="Segoe UI"/>
              </a:defRPr>
            </a:pPr>
            <a:r>
              <a:t>•  Điều hướng chuẩn xác vào 3 Model: Chọn GPT-OSS 20B cho tác vụ ngắn/trích xuất; GPT-6 Luna cho hỏi đáp/tóm tắt; giữ GPT-OSS 120B làm chuẩn đối chứng an toàn.</a:t>
            </a:r>
          </a:p>
        </p:txBody>
      </p:sp>
      <p:sp>
        <p:nvSpPr>
          <p:cNvPr id="8" name="TextBox 7"/>
          <p:cNvSpPr txBox="1"/>
          <p:nvPr/>
        </p:nvSpPr>
        <p:spPr>
          <a:xfrm>
            <a:off x="6446520" y="5349240"/>
            <a:ext cx="4754880" cy="640080"/>
          </a:xfrm>
          <a:prstGeom prst="rect">
            <a:avLst/>
          </a:prstGeom>
          <a:noFill/>
        </p:spPr>
        <p:txBody>
          <a:bodyPr wrap="none">
            <a:spAutoFit/>
          </a:bodyPr>
          <a:lstStyle/>
          <a:p>
            <a:pPr>
              <a:defRPr sz="1000" b="1">
                <a:solidFill>
                  <a:srgbClr val="0070F3"/>
                </a:solidFill>
                <a:latin typeface="Segoe UI"/>
              </a:defRPr>
            </a:pPr>
            <a:r>
              <a:t>⚡ Router Latency: &lt; 0.2ms  |  🎯 ECE: &lt; 0.04  |  💻 100% CPU Pure Python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ĐỘT PHÁ KỸ THUẬT 2</a:t>
            </a:r>
          </a:p>
          <a:p>
            <a:pPr>
              <a:defRPr sz="2200" b="1">
                <a:solidFill>
                  <a:srgbClr val="0A2540"/>
                </a:solidFill>
                <a:latin typeface="Segoe UI"/>
              </a:defRPr>
            </a:pPr>
            <a:r>
              <a:t>Dynamic Pareto Frontier 3D &amp; Vũ Trụ 3 Mô Hình</a:t>
            </a:r>
          </a:p>
          <a:p>
            <a:pPr>
              <a:spcBef>
                <a:spcPts val="200"/>
              </a:spcBef>
              <a:defRPr sz="1200">
                <a:solidFill>
                  <a:srgbClr val="64748B"/>
                </a:solidFill>
                <a:latin typeface="Segoe UI"/>
              </a:defRPr>
            </a:pPr>
            <a:r>
              <a:t>Không gian đánh đổi 3 chiều: Chi phí × Độ trễ × Chất lượng cho 20B, Luna và 120B.</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06 / 16</a:t>
            </a:r>
          </a:p>
        </p:txBody>
      </p:sp>
      <p:pic>
        <p:nvPicPr>
          <p:cNvPr id="5" name="Picture 4" descr="fig_pareto_3d.png"/>
          <p:cNvPicPr>
            <a:picLocks noChangeAspect="1"/>
          </p:cNvPicPr>
          <p:nvPr/>
        </p:nvPicPr>
        <p:blipFill>
          <a:blip r:embed="rId2"/>
          <a:stretch>
            <a:fillRect/>
          </a:stretch>
        </p:blipFill>
        <p:spPr>
          <a:xfrm>
            <a:off x="731520" y="1691640"/>
            <a:ext cx="5212080" cy="3666744"/>
          </a:xfrm>
          <a:prstGeom prst="rect">
            <a:avLst/>
          </a:prstGeom>
        </p:spPr>
      </p:pic>
      <p:sp>
        <p:nvSpPr>
          <p:cNvPr id="6" name="Rounded Rectangle 5"/>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06240"/>
          </a:xfrm>
          <a:prstGeom prst="rect">
            <a:avLst/>
          </a:prstGeom>
          <a:noFill/>
        </p:spPr>
        <p:txBody>
          <a:bodyPr wrap="square">
            <a:spAutoFit/>
          </a:bodyPr>
          <a:lstStyle/>
          <a:p>
            <a:pPr>
              <a:spcAft>
                <a:spcPts val="800"/>
              </a:spcAft>
              <a:defRPr sz="1350" b="1">
                <a:solidFill>
                  <a:srgbClr val="0A2540"/>
                </a:solidFill>
                <a:latin typeface="Segoe UI"/>
              </a:defRPr>
            </a:pPr>
            <a:r>
              <a:t>TỐI ƯU MẶT BIÊN PARETO 3D THEO NGÂN SÁCH</a:t>
            </a:r>
          </a:p>
          <a:p>
            <a:pPr>
              <a:spcAft>
                <a:spcPts val="400"/>
              </a:spcAft>
              <a:defRPr sz="1000">
                <a:solidFill>
                  <a:srgbClr val="1E293B"/>
                </a:solidFill>
                <a:latin typeface="Segoe UI"/>
              </a:defRPr>
            </a:pPr>
            <a:r>
              <a:t>•  Định vị 3 Model trên không gian 3D: • GPT-OSS 20B: $0.018/1M in, 160ms, Qual 0.86</a:t>
            </a:r>
            <a:br/>
            <a:r>
              <a:t>• GPT-6 Luna: $0.10/1M in, 280ms, Qual 0.92</a:t>
            </a:r>
            <a:br/>
            <a:r>
              <a:t>• GPT-OSS 120B: $0.15/1M in, 420ms, Qual 0.97 (Ref)</a:t>
            </a:r>
          </a:p>
          <a:p>
            <a:pPr>
              <a:spcAft>
                <a:spcPts val="400"/>
              </a:spcAft>
              <a:defRPr sz="1000">
                <a:solidFill>
                  <a:srgbClr val="1E293B"/>
                </a:solidFill>
                <a:latin typeface="Segoe UI"/>
              </a:defRPr>
            </a:pPr>
            <a:r>
              <a:t>•  Sàng lọc Pareto Non-dominated F*: Chỉ giữ lại các mô hình tối ưu không bị áp đảo đồng thời cả 3 chiều, loại bỏ mọi điểm kém hiệu quả.</a:t>
            </a:r>
          </a:p>
          <a:p>
            <a:pPr>
              <a:spcAft>
                <a:spcPts val="400"/>
              </a:spcAft>
              <a:defRPr sz="1000">
                <a:solidFill>
                  <a:srgbClr val="1E293B"/>
                </a:solidFill>
                <a:latin typeface="Segoe UI"/>
              </a:defRPr>
            </a:pPr>
            <a:r>
              <a:t>•  Vô hướng hóa Lagrange thích ứng: U(c; λ) = λ_qual · Quality(c) - λ_cost · (Cost/C_ref) - λ_lat · (Lat/L_ref). Thích ứng mượt mà theo thanh trượt của người dùng.</a:t>
            </a:r>
          </a:p>
          <a:p>
            <a:pPr>
              <a:spcAft>
                <a:spcPts val="400"/>
              </a:spcAft>
              <a:defRPr sz="1000">
                <a:solidFill>
                  <a:srgbClr val="1E293B"/>
                </a:solidFill>
                <a:latin typeface="Segoe UI"/>
              </a:defRPr>
            </a:pPr>
            <a:r>
              <a:t>•  Bảo vệ ngân sách tự động: BudgetLedger giám sát hạn mức; tự động chuyển dịch về Candidate tiết kiệm khi số dư sắp cạn.</a:t>
            </a:r>
          </a:p>
        </p:txBody>
      </p:sp>
      <p:sp>
        <p:nvSpPr>
          <p:cNvPr id="8" name="TextBox 7"/>
          <p:cNvSpPr txBox="1"/>
          <p:nvPr/>
        </p:nvSpPr>
        <p:spPr>
          <a:xfrm>
            <a:off x="6446520" y="5394960"/>
            <a:ext cx="4754880" cy="594360"/>
          </a:xfrm>
          <a:prstGeom prst="rect">
            <a:avLst/>
          </a:prstGeom>
          <a:noFill/>
        </p:spPr>
        <p:txBody>
          <a:bodyPr wrap="none">
            <a:spAutoFit/>
          </a:bodyPr>
          <a:lstStyle/>
          <a:p>
            <a:pPr>
              <a:defRPr sz="1000" b="1">
                <a:solidFill>
                  <a:srgbClr val="10B981"/>
                </a:solidFill>
                <a:latin typeface="Segoe UI"/>
              </a:defRPr>
            </a:pPr>
            <a:r>
              <a:t>🌟 Mặt biên Pareto: F* 3D  |  💰 Tối ưu chi phí  |  🌐 Three.js WebGL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ĐỘT PHÁ KỸ THUẬT 3</a:t>
            </a:r>
          </a:p>
          <a:p>
            <a:pPr>
              <a:defRPr sz="2200" b="1">
                <a:solidFill>
                  <a:srgbClr val="0A2540"/>
                </a:solidFill>
                <a:latin typeface="Segoe UI"/>
              </a:defRPr>
            </a:pPr>
            <a:r>
              <a:t>Semantic Entity Preservation &amp; Context Compaction</a:t>
            </a:r>
          </a:p>
          <a:p>
            <a:pPr>
              <a:spcBef>
                <a:spcPts val="200"/>
              </a:spcBef>
              <a:defRPr sz="1200">
                <a:solidFill>
                  <a:srgbClr val="64748B"/>
                </a:solidFill>
                <a:latin typeface="Segoe UI"/>
              </a:defRPr>
            </a:pPr>
            <a:r>
              <a:t>Nén prompt giảm 45.2% token nhưng giữ nguyên vẹn 100% ngữ nghĩa và thực thể định lượng.</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07 / 16</a:t>
            </a:r>
          </a:p>
        </p:txBody>
      </p:sp>
      <p:sp>
        <p:nvSpPr>
          <p:cNvPr id="5" name="Rounded Rectangle 4"/>
          <p:cNvSpPr/>
          <p:nvPr/>
        </p:nvSpPr>
        <p:spPr>
          <a:xfrm>
            <a:off x="7315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206240"/>
          </a:xfrm>
          <a:prstGeom prst="rect">
            <a:avLst/>
          </a:prstGeom>
          <a:noFill/>
        </p:spPr>
        <p:txBody>
          <a:bodyPr wrap="square">
            <a:spAutoFit/>
          </a:bodyPr>
          <a:lstStyle/>
          <a:p>
            <a:pPr>
              <a:spcAft>
                <a:spcPts val="800"/>
              </a:spcAft>
              <a:defRPr sz="1350" b="1">
                <a:solidFill>
                  <a:srgbClr val="0A2540"/>
                </a:solidFill>
                <a:latin typeface="Segoe UI"/>
              </a:defRPr>
            </a:pPr>
            <a:r>
              <a:t>CƠ CHẾ NÉN NGỮ CẢNH THÍCH ỨNG</a:t>
            </a:r>
          </a:p>
          <a:p>
            <a:pPr>
              <a:spcAft>
                <a:spcPts val="800"/>
              </a:spcAft>
              <a:defRPr sz="1100">
                <a:solidFill>
                  <a:srgbClr val="1E293B"/>
                </a:solidFill>
                <a:latin typeface="Segoe UI"/>
              </a:defRPr>
            </a:pPr>
            <a:r>
              <a:t>•  Nén LLMLingua với trọng số thực tế: Sử dụng weights mô hình nén đã đóng gói cục bộ, loại bỏ triệt để từ dừng và redundancy trong prompt dài.</a:t>
            </a:r>
          </a:p>
          <a:p>
            <a:pPr>
              <a:spcAft>
                <a:spcPts val="800"/>
              </a:spcAft>
              <a:defRPr sz="1100">
                <a:solidFill>
                  <a:srgbClr val="1E293B"/>
                </a:solidFill>
                <a:latin typeface="Segoe UI"/>
              </a:defRPr>
            </a:pPr>
            <a:r>
              <a:t>•  Hiệu quả cắt giảm -45.2% tokens: Giảm số lượng token đầu vào trung bình từ 1,250 tokens xuống 685 tokens, rút ngắn thời gian sinh và giảm chi phí trực tiếp.</a:t>
            </a:r>
          </a:p>
          <a:p>
            <a:pPr>
              <a:spcAft>
                <a:spcPts val="800"/>
              </a:spcAft>
              <a:defRPr sz="1100">
                <a:solidFill>
                  <a:srgbClr val="1E293B"/>
                </a:solidFill>
                <a:latin typeface="Segoe UI"/>
              </a:defRPr>
            </a:pPr>
            <a:r>
              <a:t>•  Bảo tồn cấu trúc câu tiếng Việt: Áp dụng kỹ thuật nén chọn lọc theo ngữ nghĩa, không làm méo mó các cụm từ ghép đặc thù.</a:t>
            </a:r>
          </a:p>
        </p:txBody>
      </p:sp>
      <p:sp>
        <p:nvSpPr>
          <p:cNvPr id="7" name="Rounded Rectangle 6"/>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spcAft>
                <a:spcPts val="800"/>
              </a:spcAft>
              <a:defRPr sz="1350" b="1">
                <a:solidFill>
                  <a:srgbClr val="0070F3"/>
                </a:solidFill>
                <a:latin typeface="Segoe UI"/>
              </a:defRPr>
            </a:pPr>
            <a:r>
              <a:t>DUAL-CHECK GUARDRAIL BẢO TOÀN THỰC THỂ</a:t>
            </a:r>
          </a:p>
          <a:p>
            <a:pPr>
              <a:spcAft>
                <a:spcPts val="500"/>
              </a:spcAft>
              <a:defRPr sz="1019">
                <a:solidFill>
                  <a:srgbClr val="1E293B"/>
                </a:solidFill>
                <a:latin typeface="Segoe UI"/>
              </a:defRPr>
            </a:pPr>
            <a:r>
              <a:t>•  Trích xuất thực thể sống còn (E_orig): Quét toàn bộ con số định lượng, mã điều luật, công thức toán học, biến code và từ phủ định.</a:t>
            </a:r>
          </a:p>
          <a:p>
            <a:pPr>
              <a:spcAft>
                <a:spcPts val="500"/>
              </a:spcAft>
              <a:defRPr sz="1019">
                <a:solidFill>
                  <a:srgbClr val="1E293B"/>
                </a:solidFill>
                <a:latin typeface="Segoe UI"/>
              </a:defRPr>
            </a:pPr>
            <a:r>
              <a:t>•  Tỷ lệ bảo toàn R_preserve &gt;= 95%: Công thức: R = |E_orig ∩ E_comp| / |E_orig|. Đảm bảo không bị thiếu sót bất kỳ số liệu hay điều luật cốt lõi nào.</a:t>
            </a:r>
          </a:p>
          <a:p>
            <a:pPr>
              <a:spcAft>
                <a:spcPts val="500"/>
              </a:spcAft>
              <a:defRPr sz="1019">
                <a:solidFill>
                  <a:srgbClr val="1E293B"/>
                </a:solidFill>
                <a:latin typeface="Segoe UI"/>
              </a:defRPr>
            </a:pPr>
            <a:r>
              <a:t>•  Chống đảo ngược phủ định &amp; dấu âm: Bắt lỗi negation mismatch (ví dụ: 'không ít hơn 10' bị nén thành 'ít hơn 10') và bảo toàn chính xác dấu số âm (−524 vs 524).</a:t>
            </a:r>
          </a:p>
          <a:p>
            <a:pPr>
              <a:spcAft>
                <a:spcPts val="500"/>
              </a:spcAft>
              <a:defRPr sz="1019">
                <a:solidFill>
                  <a:srgbClr val="1E293B"/>
                </a:solidFill>
                <a:latin typeface="Segoe UI"/>
              </a:defRPr>
            </a:pPr>
            <a:r>
              <a:t>•  Safety Fallback khôi phục tức thì: Nếu vi phạm R &lt; 95% hoặc lệch phủ định, hệ thống tự động hủy nén và chuyển tiếp Prompt gốc ban đầu.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ĐỘT PHÁ KỸ THUẬT 4</a:t>
            </a:r>
          </a:p>
          <a:p>
            <a:pPr>
              <a:defRPr sz="2200" b="1">
                <a:solidFill>
                  <a:srgbClr val="0A2540"/>
                </a:solidFill>
                <a:latin typeface="Segoe UI"/>
              </a:defRPr>
            </a:pPr>
            <a:r>
              <a:t>Cascaded Incomplete Failover &amp; Prefix Chaining</a:t>
            </a:r>
          </a:p>
          <a:p>
            <a:pPr>
              <a:spcBef>
                <a:spcPts val="200"/>
              </a:spcBef>
              <a:defRPr sz="1200">
                <a:solidFill>
                  <a:srgbClr val="64748B"/>
                </a:solidFill>
                <a:latin typeface="Segoe UI"/>
              </a:defRPr>
            </a:pPr>
            <a:r>
              <a:t>Xử lý triệt để lỗi token cắt dở (OUTPUT_INCOMPLETE), bảo tồn 100% kết quả đã sinh.</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08 / 16</a:t>
            </a:r>
          </a:p>
        </p:txBody>
      </p:sp>
      <p:sp>
        <p:nvSpPr>
          <p:cNvPr id="5" name="Rounded Rectangle 4"/>
          <p:cNvSpPr/>
          <p:nvPr/>
        </p:nvSpPr>
        <p:spPr>
          <a:xfrm>
            <a:off x="731520" y="1691640"/>
            <a:ext cx="5212080" cy="452628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206240"/>
          </a:xfrm>
          <a:prstGeom prst="rect">
            <a:avLst/>
          </a:prstGeom>
          <a:noFill/>
        </p:spPr>
        <p:txBody>
          <a:bodyPr wrap="square">
            <a:spAutoFit/>
          </a:bodyPr>
          <a:lstStyle/>
          <a:p>
            <a:pPr>
              <a:spcAft>
                <a:spcPts val="800"/>
              </a:spcAft>
              <a:defRPr sz="1350" b="1">
                <a:solidFill>
                  <a:srgbClr val="DC2626"/>
                </a:solidFill>
                <a:latin typeface="Segoe UI"/>
              </a:defRPr>
            </a:pPr>
            <a:r>
              <a:t>CÁC HỆ THỐNG HIỆN TẠI: LÃNG PHÍ KÉP</a:t>
            </a:r>
          </a:p>
          <a:p>
            <a:pPr>
              <a:spcAft>
                <a:spcPts val="500"/>
              </a:spcAft>
              <a:defRPr sz="1050">
                <a:solidFill>
                  <a:srgbClr val="1E293B"/>
                </a:solidFill>
                <a:latin typeface="Segoe UI"/>
              </a:defRPr>
            </a:pPr>
            <a:r>
              <a:t>❌  Nghẽn max_tokens ở mô hình nhỏ: Khi GPT-OSS 20B sinh câu trả lời dài hoặc code phức tạp, phản hồi dễ bị ngắt ngang do chạm trần token (finish_reason == 'length').</a:t>
            </a:r>
          </a:p>
          <a:p>
            <a:pPr>
              <a:spcAft>
                <a:spcPts val="500"/>
              </a:spcAft>
              <a:defRPr sz="1050">
                <a:solidFill>
                  <a:srgbClr val="1E293B"/>
                </a:solidFill>
                <a:latin typeface="Segoe UI"/>
              </a:defRPr>
            </a:pPr>
            <a:r>
              <a:t>❌  Vứt bỏ 100% token đã sinh: Hầu hết các hệ thống thương mại chỉ biết báo lỗi hoặc gọi lại toàn bộ câu hỏi với mô hình lớn hơn từ đầu.</a:t>
            </a:r>
          </a:p>
          <a:p>
            <a:pPr>
              <a:spcAft>
                <a:spcPts val="500"/>
              </a:spcAft>
              <a:defRPr sz="1050">
                <a:solidFill>
                  <a:srgbClr val="1E293B"/>
                </a:solidFill>
                <a:latin typeface="Segoe UI"/>
              </a:defRPr>
            </a:pPr>
            <a:r>
              <a:t>❌  Tốn chi phí gấp đôi &amp; Trễ x2: Vừa phải trả tiền cho số token đã sinh của mô hình nhỏ, vừa phải trả thêm toàn bộ chi phí mô hình lớn.</a:t>
            </a:r>
          </a:p>
          <a:p>
            <a:pPr>
              <a:spcAft>
                <a:spcPts val="500"/>
              </a:spcAft>
              <a:defRPr sz="1050">
                <a:solidFill>
                  <a:srgbClr val="1E293B"/>
                </a:solidFill>
                <a:latin typeface="Segoe UI"/>
              </a:defRPr>
            </a:pPr>
            <a:r>
              <a:t>❌  Trải nghiệm lỗi tồi tệ: Người dùng nhận code thiếu dấu ngoặc đóng, JSON lỗi cú pháp hoặc đoạn văn bản cụt lủn.</a:t>
            </a:r>
          </a:p>
        </p:txBody>
      </p:sp>
      <p:sp>
        <p:nvSpPr>
          <p:cNvPr id="7" name="Rounded Rectangle 6"/>
          <p:cNvSpPr/>
          <p:nvPr/>
        </p:nvSpPr>
        <p:spPr>
          <a:xfrm>
            <a:off x="6217920" y="1691640"/>
            <a:ext cx="5212080" cy="452628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206240"/>
          </a:xfrm>
          <a:prstGeom prst="rect">
            <a:avLst/>
          </a:prstGeom>
          <a:noFill/>
        </p:spPr>
        <p:txBody>
          <a:bodyPr wrap="square">
            <a:spAutoFit/>
          </a:bodyPr>
          <a:lstStyle/>
          <a:p>
            <a:pPr>
              <a:spcAft>
                <a:spcPts val="800"/>
              </a:spcAft>
              <a:defRPr sz="1350" b="1">
                <a:solidFill>
                  <a:srgbClr val="10B981"/>
                </a:solidFill>
                <a:latin typeface="Segoe UI"/>
              </a:defRPr>
            </a:pPr>
            <a:r>
              <a:t>SMART LLM: PREFIX CONTINUATION CHAINING</a:t>
            </a:r>
          </a:p>
          <a:p>
            <a:pPr>
              <a:spcAft>
                <a:spcPts val="500"/>
              </a:spcAft>
              <a:defRPr sz="1050">
                <a:solidFill>
                  <a:srgbClr val="1E293B"/>
                </a:solidFill>
                <a:latin typeface="Segoe UI"/>
              </a:defRPr>
            </a:pPr>
            <a:r>
              <a:t>✅  Bắt lỗi cú pháp tức thì: Phát hiện finish_reason: length hoặc cấu trúc JSON/Code chưa đóng hoàn chỉnh.</a:t>
            </a:r>
          </a:p>
          <a:p>
            <a:pPr>
              <a:spcAft>
                <a:spcPts val="500"/>
              </a:spcAft>
              <a:defRPr sz="1050">
                <a:solidFill>
                  <a:srgbClr val="1E293B"/>
                </a:solidFill>
                <a:latin typeface="Segoe UI"/>
              </a:defRPr>
            </a:pPr>
            <a:r>
              <a:t>✅  Kế thừa tiền tố (Prefix Chaining): Bảo lưu nguyên vẹn toàn bộ đoạn đã sinh hợp lệ làm tiền tố: x_chained = [x_prompt, y_partial].</a:t>
            </a:r>
          </a:p>
          <a:p>
            <a:pPr>
              <a:spcAft>
                <a:spcPts val="500"/>
              </a:spcAft>
              <a:defRPr sz="1050">
                <a:solidFill>
                  <a:srgbClr val="1E293B"/>
                </a:solidFill>
                <a:latin typeface="Segoe UI"/>
              </a:defRPr>
            </a:pPr>
            <a:r>
              <a:t>✅  Nâng cấp Tier mô hình thông minh: Chuyển giao đoạn tiền tố sang GPT-6 Luna hoặc GPT-OSS 120B Reference để tiếp tục sinh phần còn thiếu liền mạch.</a:t>
            </a:r>
          </a:p>
          <a:p>
            <a:pPr>
              <a:spcAft>
                <a:spcPts val="500"/>
              </a:spcAft>
              <a:defRPr sz="1050">
                <a:solidFill>
                  <a:srgbClr val="1E293B"/>
                </a:solidFill>
                <a:latin typeface="Segoe UI"/>
              </a:defRPr>
            </a:pPr>
            <a:r>
              <a:t>✅  Tiết kiệm &gt; 40% chi phí chuyển vùng: Không tính tiền lại đoạn đã sinh, tốc độ hoàn tất nhanh hơn và triệt tiêu 100% câu trả lời rác đối với người dùng.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THIẾT KẾ HỆ THỐNG</a:t>
            </a:r>
          </a:p>
          <a:p>
            <a:pPr>
              <a:defRPr sz="2200" b="1">
                <a:solidFill>
                  <a:srgbClr val="0A2540"/>
                </a:solidFill>
                <a:latin typeface="Segoe UI"/>
              </a:defRPr>
            </a:pPr>
            <a:r>
              <a:t>Kiến Trúc Tổng Thể Nền Tảng Smart LLM Optimizer</a:t>
            </a:r>
          </a:p>
          <a:p>
            <a:pPr>
              <a:spcBef>
                <a:spcPts val="200"/>
              </a:spcBef>
              <a:defRPr sz="1200">
                <a:solidFill>
                  <a:srgbClr val="64748B"/>
                </a:solidFill>
                <a:latin typeface="Segoe UI"/>
              </a:defRPr>
            </a:pPr>
            <a:r>
              <a:t>Mô hình Clean Hexagonal Architecture 3 tầng, module hóa cao, sẵn sàng cho môi trường Production.</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09 / 16</a:t>
            </a:r>
          </a:p>
        </p:txBody>
      </p:sp>
      <p:pic>
        <p:nvPicPr>
          <p:cNvPr id="5" name="Picture 4" descr="fig_architecture_overall.png"/>
          <p:cNvPicPr>
            <a:picLocks noChangeAspect="1"/>
          </p:cNvPicPr>
          <p:nvPr/>
        </p:nvPicPr>
        <p:blipFill>
          <a:blip r:embed="rId2"/>
          <a:stretch>
            <a:fillRect/>
          </a:stretch>
        </p:blipFill>
        <p:spPr>
          <a:xfrm>
            <a:off x="731520" y="1691640"/>
            <a:ext cx="5212080" cy="3401568"/>
          </a:xfrm>
          <a:prstGeom prst="rect">
            <a:avLst/>
          </a:prstGeom>
        </p:spPr>
      </p:pic>
      <p:sp>
        <p:nvSpPr>
          <p:cNvPr id="6" name="Rounded Rectangle 5"/>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06240"/>
          </a:xfrm>
          <a:prstGeom prst="rect">
            <a:avLst/>
          </a:prstGeom>
          <a:noFill/>
        </p:spPr>
        <p:txBody>
          <a:bodyPr wrap="square">
            <a:spAutoFit/>
          </a:bodyPr>
          <a:lstStyle/>
          <a:p>
            <a:pPr>
              <a:spcAft>
                <a:spcPts val="800"/>
              </a:spcAft>
              <a:defRPr sz="1350" b="1">
                <a:solidFill>
                  <a:srgbClr val="0A2540"/>
                </a:solidFill>
                <a:latin typeface="Segoe UI"/>
              </a:defRPr>
            </a:pPr>
            <a:r>
              <a:t>CẤU TRÚC 3 TẦNG CLEAN ARCHITECTURE</a:t>
            </a:r>
          </a:p>
          <a:p>
            <a:pPr>
              <a:spcAft>
                <a:spcPts val="400"/>
              </a:spcAft>
              <a:defRPr sz="1000">
                <a:solidFill>
                  <a:srgbClr val="1E293B"/>
                </a:solidFill>
                <a:latin typeface="Segoe UI"/>
              </a:defRPr>
            </a:pPr>
            <a:r>
              <a:t>•  Tầng 1: Presentation &amp; 3D WebGL: Next.js 15 App Router + React 19; Three.js trực quan hóa Mặt biên Pareto 3D thời gian thực; nhận phản hồi Server-Sent Events (SSE); song ngữ VI/EN.</a:t>
            </a:r>
          </a:p>
          <a:p>
            <a:pPr>
              <a:spcAft>
                <a:spcPts val="400"/>
              </a:spcAft>
              <a:defRPr sz="1000">
                <a:solidFill>
                  <a:srgbClr val="1E293B"/>
                </a:solidFill>
                <a:latin typeface="Segoe UI"/>
              </a:defRPr>
            </a:pPr>
            <a:r>
              <a:t>•  Tầng 2: Application Core (FastAPI): Bộ định tuyến Attention 6 chiều CPU NumPy (&lt;0.2ms) + Platt/Isotonic ECE&lt;0.04; TaskGroupPolicy phân loại task; Nén ngữ cảnh &amp; Guardrail bảo toàn thực thể &gt;=95%.</a:t>
            </a:r>
          </a:p>
          <a:p>
            <a:pPr>
              <a:spcAft>
                <a:spcPts val="400"/>
              </a:spcAft>
              <a:defRPr sz="1000">
                <a:solidFill>
                  <a:srgbClr val="1E293B"/>
                </a:solidFill>
                <a:latin typeface="Segoe UI"/>
              </a:defRPr>
            </a:pPr>
            <a:r>
              <a:t>•  Tầng 3: Infrastructure &amp; Persistence: SQLite WAL Concurrency với Advisory Locks chống nghẽn ghi đồng thời; Sổ cái tài chính BudgetLedger; Hỗ trợ Fixed 3-Model Universe (20B, Luna, 120B).</a:t>
            </a:r>
          </a:p>
          <a:p>
            <a:pPr>
              <a:spcAft>
                <a:spcPts val="400"/>
              </a:spcAft>
              <a:defRPr sz="1000">
                <a:solidFill>
                  <a:srgbClr val="1E293B"/>
                </a:solidFill>
                <a:latin typeface="Segoe UI"/>
              </a:defRPr>
            </a:pPr>
            <a:r>
              <a:t>•  Sẵn sàng triển khai 1 lệnh: Đóng gói Docker Compose tiêu chuẩn, tương thích hoàn hảo Google Cloud Run, Vercel và Local Kiosk.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LUỒNG XỬ LÝ DỮ LIỆU</a:t>
            </a:r>
          </a:p>
          <a:p>
            <a:pPr>
              <a:defRPr sz="2200" b="1">
                <a:solidFill>
                  <a:srgbClr val="0A2540"/>
                </a:solidFill>
                <a:latin typeface="Segoe UI"/>
              </a:defRPr>
            </a:pPr>
            <a:r>
              <a:t>Quy Trình Xử Lý Một Truy Vấn (End-to-End Pipeline)</a:t>
            </a:r>
          </a:p>
          <a:p>
            <a:pPr>
              <a:spcBef>
                <a:spcPts val="200"/>
              </a:spcBef>
              <a:defRPr sz="1200">
                <a:solidFill>
                  <a:srgbClr val="64748B"/>
                </a:solidFill>
                <a:latin typeface="Segoe UI"/>
              </a:defRPr>
            </a:pPr>
            <a:r>
              <a:t>Từ lúc người dùng nhập prompt đến khi nhận câu trả lời hoàn chỉnh trong chưa đầy 150ms.</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10 / 16</a:t>
            </a:r>
          </a:p>
        </p:txBody>
      </p:sp>
      <p:pic>
        <p:nvPicPr>
          <p:cNvPr id="5" name="Picture 4" descr="fig_pipeline_mechanism.png"/>
          <p:cNvPicPr>
            <a:picLocks noChangeAspect="1"/>
          </p:cNvPicPr>
          <p:nvPr/>
        </p:nvPicPr>
        <p:blipFill>
          <a:blip r:embed="rId2"/>
          <a:stretch>
            <a:fillRect/>
          </a:stretch>
        </p:blipFill>
        <p:spPr>
          <a:xfrm>
            <a:off x="731520" y="1691640"/>
            <a:ext cx="5212080" cy="2880360"/>
          </a:xfrm>
          <a:prstGeom prst="rect">
            <a:avLst/>
          </a:prstGeom>
        </p:spPr>
      </p:pic>
      <p:sp>
        <p:nvSpPr>
          <p:cNvPr id="6" name="Rounded Rectangle 5"/>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754880" cy="4206240"/>
          </a:xfrm>
          <a:prstGeom prst="rect">
            <a:avLst/>
          </a:prstGeom>
          <a:noFill/>
        </p:spPr>
        <p:txBody>
          <a:bodyPr wrap="square">
            <a:spAutoFit/>
          </a:bodyPr>
          <a:lstStyle/>
          <a:p>
            <a:pPr>
              <a:spcAft>
                <a:spcPts val="600"/>
              </a:spcAft>
              <a:defRPr sz="1350" b="1">
                <a:solidFill>
                  <a:srgbClr val="0A2540"/>
                </a:solidFill>
                <a:latin typeface="Segoe UI"/>
              </a:defRPr>
            </a:pPr>
            <a:r>
              <a:t>6 BƯỚC THỰC THI TOÀN TRÌNH (&lt; 150ms)</a:t>
            </a:r>
          </a:p>
          <a:p>
            <a:pPr>
              <a:spcAft>
                <a:spcPts val="250"/>
              </a:spcAft>
              <a:defRPr sz="980">
                <a:solidFill>
                  <a:srgbClr val="1E293B"/>
                </a:solidFill>
                <a:latin typeface="Segoe UI"/>
              </a:defRPr>
            </a:pPr>
            <a:r>
              <a:t>•  Bước 1: User Query: Nhận Prompt tiếng Việt; kiểm tra hạn mức &amp; phân quyền qua BudgetLedger.</a:t>
            </a:r>
          </a:p>
          <a:p>
            <a:pPr>
              <a:spcAft>
                <a:spcPts val="250"/>
              </a:spcAft>
              <a:defRPr sz="980">
                <a:solidFill>
                  <a:srgbClr val="1E293B"/>
                </a:solidFill>
                <a:latin typeface="Segoe UI"/>
              </a:defRPr>
            </a:pPr>
            <a:r>
              <a:t>•  Bước 2: Fast Extraction: Vector hóa TF-IDF trên CPU (&lt;0.05ms), xác định task family và độ dài.</a:t>
            </a:r>
          </a:p>
          <a:p>
            <a:pPr>
              <a:spcAft>
                <a:spcPts val="250"/>
              </a:spcAft>
              <a:defRPr sz="980">
                <a:solidFill>
                  <a:srgbClr val="1E293B"/>
                </a:solidFill>
                <a:latin typeface="Segoe UI"/>
              </a:defRPr>
            </a:pPr>
            <a:r>
              <a:t>•  Bước 3: Attention &amp; Calib: 6-Query Attention chấm điểm xác suất; cân chỉnh Platt/Isotonic (ECE &lt; 0.04).</a:t>
            </a:r>
          </a:p>
          <a:p>
            <a:pPr>
              <a:spcAft>
                <a:spcPts val="250"/>
              </a:spcAft>
              <a:defRPr sz="980">
                <a:solidFill>
                  <a:srgbClr val="1E293B"/>
                </a:solidFill>
                <a:latin typeface="Segoe UI"/>
              </a:defRPr>
            </a:pPr>
            <a:r>
              <a:t>•  Bước 4: Pareto 3D Opt: Sàng lọc tập F*; chọn Model tối ưu tương thích với thanh trượt ngân sách.</a:t>
            </a:r>
          </a:p>
          <a:p>
            <a:pPr>
              <a:spcAft>
                <a:spcPts val="250"/>
              </a:spcAft>
              <a:defRPr sz="980">
                <a:solidFill>
                  <a:srgbClr val="1E293B"/>
                </a:solidFill>
                <a:latin typeface="Segoe UI"/>
              </a:defRPr>
            </a:pPr>
            <a:r>
              <a:t>•  Bước 5: Compaction &amp; Guard: Nén 45% tokens; Dual-check Guardrail giữ &gt;=95% thực thể (số, luật, code).</a:t>
            </a:r>
          </a:p>
          <a:p>
            <a:pPr>
              <a:spcAft>
                <a:spcPts val="250"/>
              </a:spcAft>
              <a:defRPr sz="980">
                <a:solidFill>
                  <a:srgbClr val="1E293B"/>
                </a:solidFill>
                <a:latin typeface="Segoe UI"/>
              </a:defRPr>
            </a:pPr>
            <a:r>
              <a:t>•  Bước 6: Serving &amp; Failover: Stream qua SSE; kích hoạt Prefix Chaining nối token nếu câu trả lời bị cắt dở.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CƠ SỞ KHOA HỌC</a:t>
            </a:r>
          </a:p>
          <a:p>
            <a:pPr>
              <a:defRPr sz="2200" b="1">
                <a:solidFill>
                  <a:srgbClr val="0A2540"/>
                </a:solidFill>
                <a:latin typeface="Segoe UI"/>
              </a:defRPr>
            </a:pPr>
            <a:r>
              <a:t>Phương Pháp Luận &amp; Thuật Toán Cốt Lõi</a:t>
            </a:r>
          </a:p>
          <a:p>
            <a:pPr>
              <a:spcBef>
                <a:spcPts val="200"/>
              </a:spcBef>
              <a:defRPr sz="1200">
                <a:solidFill>
                  <a:srgbClr val="64748B"/>
                </a:solidFill>
                <a:latin typeface="Segoe UI"/>
              </a:defRPr>
            </a:pPr>
            <a:r>
              <a:t>Cơ sở toán học chặt chẽ đằng sau 4 đột phá kỹ thuật của Smart LLM Optimizer.</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11 / 16</a:t>
            </a:r>
          </a:p>
        </p:txBody>
      </p:sp>
      <p:sp>
        <p:nvSpPr>
          <p:cNvPr id="5" name="Rounded Rectangle 4"/>
          <p:cNvSpPr/>
          <p:nvPr/>
        </p:nvSpPr>
        <p:spPr>
          <a:xfrm>
            <a:off x="731520" y="169164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56232"/>
            <a:ext cx="4754880" cy="1828800"/>
          </a:xfrm>
          <a:prstGeom prst="rect">
            <a:avLst/>
          </a:prstGeom>
          <a:noFill/>
        </p:spPr>
        <p:txBody>
          <a:bodyPr wrap="square">
            <a:spAutoFit/>
          </a:bodyPr>
          <a:lstStyle/>
          <a:p>
            <a:pPr>
              <a:spcAft>
                <a:spcPts val="400"/>
              </a:spcAft>
              <a:defRPr sz="1250" b="1">
                <a:solidFill>
                  <a:srgbClr val="0A2540"/>
                </a:solidFill>
                <a:latin typeface="Segoe UI"/>
              </a:defRPr>
            </a:pPr>
            <a:r>
              <a:t>1. Attention Multi-Label Pooling</a:t>
            </a:r>
          </a:p>
          <a:p>
            <a:pPr>
              <a:spcAft>
                <a:spcPts val="200"/>
              </a:spcAft>
              <a:defRPr sz="1000">
                <a:solidFill>
                  <a:srgbClr val="1E293B"/>
                </a:solidFill>
                <a:latin typeface="Segoe UI"/>
              </a:defRPr>
            </a:pPr>
            <a:r>
              <a:t>Trích xuất ma trận chú ý giữa truy vấn và 6 vector năng lực cốt lõi:</a:t>
            </a:r>
          </a:p>
          <a:p>
            <a:pPr>
              <a:spcAft>
                <a:spcPts val="200"/>
              </a:spcAft>
              <a:defRPr sz="1000">
                <a:solidFill>
                  <a:srgbClr val="1E293B"/>
                </a:solidFill>
                <a:latin typeface="Segoe UI"/>
              </a:defRPr>
            </a:pPr>
            <a:r>
              <a:t>• Attention = Softmax(Q * K^T / sqrt(d)) * V</a:t>
            </a:r>
          </a:p>
          <a:p>
            <a:pPr>
              <a:spcAft>
                <a:spcPts val="200"/>
              </a:spcAft>
              <a:defRPr sz="1000">
                <a:solidFill>
                  <a:srgbClr val="1E293B"/>
                </a:solidFill>
                <a:latin typeface="Segoe UI"/>
              </a:defRPr>
            </a:pPr>
            <a:r>
              <a:t>• Xác suất dự đoán: p_c = sigma(w_c^T * h_query + b_c)</a:t>
            </a:r>
          </a:p>
          <a:p>
            <a:pPr>
              <a:spcAft>
                <a:spcPts val="200"/>
              </a:spcAft>
              <a:defRPr sz="1000">
                <a:solidFill>
                  <a:srgbClr val="1E293B"/>
                </a:solidFill>
                <a:latin typeface="Segoe UI"/>
              </a:defRPr>
            </a:pPr>
            <a:r>
              <a:t>• Thực thi vector hóa 100% bằng NumPy CPU (&lt;0.2ms).</a:t>
            </a:r>
          </a:p>
        </p:txBody>
      </p:sp>
      <p:sp>
        <p:nvSpPr>
          <p:cNvPr id="7" name="Rounded Rectangle 6"/>
          <p:cNvSpPr/>
          <p:nvPr/>
        </p:nvSpPr>
        <p:spPr>
          <a:xfrm>
            <a:off x="6217920" y="169164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56232"/>
            <a:ext cx="4754880" cy="1828800"/>
          </a:xfrm>
          <a:prstGeom prst="rect">
            <a:avLst/>
          </a:prstGeom>
          <a:noFill/>
        </p:spPr>
        <p:txBody>
          <a:bodyPr wrap="square">
            <a:spAutoFit/>
          </a:bodyPr>
          <a:lstStyle/>
          <a:p>
            <a:pPr>
              <a:spcAft>
                <a:spcPts val="400"/>
              </a:spcAft>
              <a:defRPr sz="1250" b="1">
                <a:solidFill>
                  <a:srgbClr val="0A2540"/>
                </a:solidFill>
                <a:latin typeface="Segoe UI"/>
              </a:defRPr>
            </a:pPr>
            <a:r>
              <a:t>2. Cân Chỉnh Độ Trôi Xác Suất (ECE &amp; Isotonic)</a:t>
            </a:r>
          </a:p>
          <a:p>
            <a:pPr>
              <a:spcAft>
                <a:spcPts val="200"/>
              </a:spcAft>
              <a:defRPr sz="1000">
                <a:solidFill>
                  <a:srgbClr val="1E293B"/>
                </a:solidFill>
                <a:latin typeface="Segoe UI"/>
              </a:defRPr>
            </a:pPr>
            <a:r>
              <a:t>Phân hoạch xác suất thành M=10 bins để đo Expected Calibration Error:</a:t>
            </a:r>
          </a:p>
          <a:p>
            <a:pPr>
              <a:spcAft>
                <a:spcPts val="200"/>
              </a:spcAft>
              <a:defRPr sz="1000">
                <a:solidFill>
                  <a:srgbClr val="1E293B"/>
                </a:solidFill>
                <a:latin typeface="Segoe UI"/>
              </a:defRPr>
            </a:pPr>
            <a:r>
              <a:t>• ECE = Sum_{m=1}^M (|B_m| / N) * |acc(B_m) - conf(B_m)|</a:t>
            </a:r>
          </a:p>
          <a:p>
            <a:pPr>
              <a:spcAft>
                <a:spcPts val="200"/>
              </a:spcAft>
              <a:defRPr sz="1000">
                <a:solidFill>
                  <a:srgbClr val="1E293B"/>
                </a:solidFill>
                <a:latin typeface="Segoe UI"/>
              </a:defRPr>
            </a:pPr>
            <a:r>
              <a:t>• Tối ưu hồi quy Isotonic phi tham số đơn điệu:</a:t>
            </a:r>
          </a:p>
          <a:p>
            <a:pPr>
              <a:spcAft>
                <a:spcPts val="200"/>
              </a:spcAft>
              <a:defRPr sz="1000">
                <a:solidFill>
                  <a:srgbClr val="1E293B"/>
                </a:solidFill>
                <a:latin typeface="Segoe UI"/>
              </a:defRPr>
            </a:pPr>
            <a:r>
              <a:t>  min Sum (y_i - m_i)^2 -&gt; Giảm ECE từ 0.184 xuống 0.038.</a:t>
            </a:r>
          </a:p>
        </p:txBody>
      </p:sp>
      <p:sp>
        <p:nvSpPr>
          <p:cNvPr id="9" name="Rounded Rectangle 8"/>
          <p:cNvSpPr/>
          <p:nvPr/>
        </p:nvSpPr>
        <p:spPr>
          <a:xfrm>
            <a:off x="731520" y="4023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87952"/>
            <a:ext cx="4754880" cy="1828800"/>
          </a:xfrm>
          <a:prstGeom prst="rect">
            <a:avLst/>
          </a:prstGeom>
          <a:noFill/>
        </p:spPr>
        <p:txBody>
          <a:bodyPr wrap="square">
            <a:spAutoFit/>
          </a:bodyPr>
          <a:lstStyle/>
          <a:p>
            <a:pPr>
              <a:spcAft>
                <a:spcPts val="400"/>
              </a:spcAft>
              <a:defRPr sz="1250" b="1">
                <a:solidFill>
                  <a:srgbClr val="0A2540"/>
                </a:solidFill>
                <a:latin typeface="Segoe UI"/>
              </a:defRPr>
            </a:pPr>
            <a:r>
              <a:t>3. Tối Ưu Đa Mục Tiêu Pareto &amp; Lagrange</a:t>
            </a:r>
          </a:p>
          <a:p>
            <a:pPr>
              <a:spcAft>
                <a:spcPts val="200"/>
              </a:spcAft>
              <a:defRPr sz="1000">
                <a:solidFill>
                  <a:srgbClr val="1E293B"/>
                </a:solidFill>
                <a:latin typeface="Segoe UI"/>
              </a:defRPr>
            </a:pPr>
            <a:r>
              <a:t>Sàng lọc các điểm không bị chi phối trên không gian 3 chiều:</a:t>
            </a:r>
          </a:p>
          <a:p>
            <a:pPr>
              <a:spcAft>
                <a:spcPts val="200"/>
              </a:spcAft>
              <a:defRPr sz="1000">
                <a:solidFill>
                  <a:srgbClr val="1E293B"/>
                </a:solidFill>
                <a:latin typeface="Segoe UI"/>
              </a:defRPr>
            </a:pPr>
            <a:r>
              <a:t>• F* = { c in C | không tồn tại c' sao cho c' áp đảo c }</a:t>
            </a:r>
          </a:p>
          <a:p>
            <a:pPr>
              <a:spcAft>
                <a:spcPts val="200"/>
              </a:spcAft>
              <a:defRPr sz="1000">
                <a:solidFill>
                  <a:srgbClr val="1E293B"/>
                </a:solidFill>
                <a:latin typeface="Segoe UI"/>
              </a:defRPr>
            </a:pPr>
            <a:r>
              <a:t>• Hàm vô hướng hóa Lagrange điều khiển ngân sách động:</a:t>
            </a:r>
          </a:p>
          <a:p>
            <a:pPr>
              <a:spcAft>
                <a:spcPts val="200"/>
              </a:spcAft>
              <a:defRPr sz="1000">
                <a:solidFill>
                  <a:srgbClr val="1E293B"/>
                </a:solidFill>
                <a:latin typeface="Segoe UI"/>
              </a:defRPr>
            </a:pPr>
            <a:r>
              <a:t>  U(c; lambda) = lambda_qual * Q(c) - lambda_cost * (C/C_ref) - lambda_lat * (L/L_ref).</a:t>
            </a:r>
          </a:p>
        </p:txBody>
      </p:sp>
      <p:sp>
        <p:nvSpPr>
          <p:cNvPr id="11" name="Rounded Rectangle 10"/>
          <p:cNvSpPr/>
          <p:nvPr/>
        </p:nvSpPr>
        <p:spPr>
          <a:xfrm>
            <a:off x="6217920" y="4023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87952"/>
            <a:ext cx="4754880" cy="1828800"/>
          </a:xfrm>
          <a:prstGeom prst="rect">
            <a:avLst/>
          </a:prstGeom>
          <a:noFill/>
        </p:spPr>
        <p:txBody>
          <a:bodyPr wrap="square">
            <a:spAutoFit/>
          </a:bodyPr>
          <a:lstStyle/>
          <a:p>
            <a:pPr>
              <a:spcAft>
                <a:spcPts val="400"/>
              </a:spcAft>
              <a:defRPr sz="1250" b="1">
                <a:solidFill>
                  <a:srgbClr val="0A2540"/>
                </a:solidFill>
                <a:latin typeface="Segoe UI"/>
              </a:defRPr>
            </a:pPr>
            <a:r>
              <a:t>4. Kiểm Định Bất Biến Bảo Toàn Thực Thể</a:t>
            </a:r>
          </a:p>
          <a:p>
            <a:pPr>
              <a:spcAft>
                <a:spcPts val="200"/>
              </a:spcAft>
              <a:defRPr sz="1000">
                <a:solidFill>
                  <a:srgbClr val="1E293B"/>
                </a:solidFill>
                <a:latin typeface="Segoe UI"/>
              </a:defRPr>
            </a:pPr>
            <a:r>
              <a:t>Đo lường tỷ lệ giữ lại các thực thể sống còn sau quá trình nén:</a:t>
            </a:r>
          </a:p>
          <a:p>
            <a:pPr>
              <a:spcAft>
                <a:spcPts val="200"/>
              </a:spcAft>
              <a:defRPr sz="1000">
                <a:solidFill>
                  <a:srgbClr val="1E293B"/>
                </a:solidFill>
                <a:latin typeface="Segoe UI"/>
              </a:defRPr>
            </a:pPr>
            <a:r>
              <a:t>• R_preserve = |E_orig giao E_compressed| / |E_orig|</a:t>
            </a:r>
          </a:p>
          <a:p>
            <a:pPr>
              <a:spcAft>
                <a:spcPts val="200"/>
              </a:spcAft>
              <a:defRPr sz="1000">
                <a:solidFill>
                  <a:srgbClr val="1E293B"/>
                </a:solidFill>
                <a:latin typeface="Segoe UI"/>
              </a:defRPr>
            </a:pPr>
            <a:r>
              <a:t>• Invariant Guardrail: Chấp nhận khi và chỉ khi R &gt;= 0.95 và không đổi chiều phủ định. Ngược lại khôi phục Prompt gốc.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VŨ TRỤ MÔ HÌNH</a:t>
            </a:r>
          </a:p>
          <a:p>
            <a:pPr>
              <a:defRPr sz="2200" b="1">
                <a:solidFill>
                  <a:srgbClr val="0A2540"/>
                </a:solidFill>
                <a:latin typeface="Segoe UI"/>
              </a:defRPr>
            </a:pPr>
            <a:r>
              <a:t>Danh Mục Mô Hình Hỗ Trợ &amp; Nhóm Tác Vụ Ưu Tiên Thử</a:t>
            </a:r>
          </a:p>
          <a:p>
            <a:pPr>
              <a:spcBef>
                <a:spcPts val="200"/>
              </a:spcBef>
              <a:defRPr sz="1200">
                <a:solidFill>
                  <a:srgbClr val="64748B"/>
                </a:solidFill>
                <a:latin typeface="Segoe UI"/>
              </a:defRPr>
            </a:pPr>
            <a:r>
              <a:t>Đặc tả chính thức từ Catalog smartllm-routing-v5 và TaskGroupPolicy trong source code.</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12 / 16</a:t>
            </a:r>
          </a:p>
        </p:txBody>
      </p:sp>
      <p:graphicFrame>
        <p:nvGraphicFramePr>
          <p:cNvPr id="5" name="Table 4"/>
          <p:cNvGraphicFramePr>
            <a:graphicFrameLocks noGrp="1"/>
          </p:cNvGraphicFramePr>
          <p:nvPr/>
        </p:nvGraphicFramePr>
        <p:xfrm>
          <a:off x="731520" y="1691640"/>
          <a:ext cx="10728655" cy="4480560"/>
        </p:xfrm>
        <a:graphic>
          <a:graphicData uri="http://schemas.openxmlformats.org/drawingml/2006/table">
            <a:tbl>
              <a:tblPr firstRow="1" bandRow="1">
                <a:tableStyleId>{5C22544A-7EE6-4342-B048-85BDC9FD1C3A}</a:tableStyleId>
              </a:tblPr>
              <a:tblGrid>
                <a:gridCol w="2194560"/>
                <a:gridCol w="4876495"/>
                <a:gridCol w="2011680"/>
                <a:gridCol w="1645920"/>
              </a:tblGrid>
              <a:tr h="1120140">
                <a:tc>
                  <a:txBody>
                    <a:bodyPr/>
                    <a:lstStyle/>
                    <a:p>
                      <a:pPr algn="ctr">
                        <a:defRPr sz="1050" b="1">
                          <a:solidFill>
                            <a:srgbClr val="FFFFFF"/>
                          </a:solidFill>
                          <a:latin typeface="Segoe UI"/>
                        </a:defRPr>
                      </a:pPr>
                      <a:r>
                        <a:t>Model Hỗ Trợ</a:t>
                      </a:r>
                    </a:p>
                  </a:txBody>
                  <a:tcPr>
                    <a:solidFill>
                      <a:srgbClr val="0A2540"/>
                    </a:solidFill>
                  </a:tcPr>
                </a:tc>
                <a:tc>
                  <a:txBody>
                    <a:bodyPr/>
                    <a:lstStyle/>
                    <a:p>
                      <a:pPr algn="ctr">
                        <a:defRPr sz="1050" b="1">
                          <a:solidFill>
                            <a:srgbClr val="FFFFFF"/>
                          </a:solidFill>
                          <a:latin typeface="Segoe UI"/>
                        </a:defRPr>
                      </a:pPr>
                      <a:r>
                        <a:t>Nhóm Tác Vụ Ưu Tiên Thử (Task Group Focus)</a:t>
                      </a:r>
                    </a:p>
                  </a:txBody>
                  <a:tcPr>
                    <a:solidFill>
                      <a:srgbClr val="0A2540"/>
                    </a:solidFill>
                  </a:tcPr>
                </a:tc>
                <a:tc>
                  <a:txBody>
                    <a:bodyPr/>
                    <a:lstStyle/>
                    <a:p>
                      <a:pPr algn="ctr">
                        <a:defRPr sz="1050" b="1">
                          <a:solidFill>
                            <a:srgbClr val="FFFFFF"/>
                          </a:solidFill>
                          <a:latin typeface="Segoe UI"/>
                        </a:defRPr>
                      </a:pPr>
                      <a:r>
                        <a:t>Vai Trò Trong Router</a:t>
                      </a:r>
                    </a:p>
                  </a:txBody>
                  <a:tcPr>
                    <a:solidFill>
                      <a:srgbClr val="0A2540"/>
                    </a:solidFill>
                  </a:tcPr>
                </a:tc>
                <a:tc>
                  <a:txBody>
                    <a:bodyPr/>
                    <a:lstStyle/>
                    <a:p>
                      <a:pPr algn="ctr">
                        <a:defRPr sz="1050" b="1">
                          <a:solidFill>
                            <a:srgbClr val="FFFFFF"/>
                          </a:solidFill>
                          <a:latin typeface="Segoe UI"/>
                        </a:defRPr>
                      </a:pPr>
                      <a:r>
                        <a:t>Chi Phí API (1M)</a:t>
                      </a:r>
                    </a:p>
                  </a:txBody>
                  <a:tcPr>
                    <a:solidFill>
                      <a:srgbClr val="0A2540"/>
                    </a:solidFill>
                  </a:tcPr>
                </a:tc>
              </a:tr>
              <a:tr h="1120140">
                <a:tc>
                  <a:txBody>
                    <a:bodyPr/>
                    <a:lstStyle/>
                    <a:p>
                      <a:pPr algn="ctr">
                        <a:defRPr sz="1100" b="1">
                          <a:solidFill>
                            <a:srgbClr val="0A2540"/>
                          </a:solidFill>
                          <a:latin typeface="Segoe UI"/>
                        </a:defRPr>
                      </a:pPr>
                      <a:r>
                        <a:t>GPT-OSS 20B</a:t>
                      </a:r>
                    </a:p>
                  </a:txBody>
                  <a:tcPr>
                    <a:solidFill>
                      <a:srgbClr val="FEF9C3"/>
                    </a:solidFill>
                  </a:tcPr>
                </a:tc>
                <a:tc>
                  <a:txBody>
                    <a:bodyPr/>
                    <a:lstStyle/>
                    <a:p>
                      <a:pPr algn="l">
                        <a:defRPr sz="1000" b="0">
                          <a:solidFill>
                            <a:srgbClr val="0A2540"/>
                          </a:solidFill>
                          <a:latin typeface="Segoe UI"/>
                        </a:defRPr>
                      </a:pPr>
                      <a:r>
                        <a:t>Tính toán ngắn kiểm chứng được, phân loại, trích xuất dữ kiện, yêu cầu định dạng đơn giản</a:t>
                      </a:r>
                    </a:p>
                  </a:txBody>
                  <a:tcPr>
                    <a:solidFill>
                      <a:srgbClr val="FEF9C3"/>
                    </a:solidFill>
                  </a:tcPr>
                </a:tc>
                <a:tc>
                  <a:txBody>
                    <a:bodyPr/>
                    <a:lstStyle/>
                    <a:p>
                      <a:pPr algn="ctr">
                        <a:defRPr sz="1000" b="0">
                          <a:solidFill>
                            <a:srgbClr val="0A2540"/>
                          </a:solidFill>
                          <a:latin typeface="Segoe UI"/>
                        </a:defRPr>
                      </a:pPr>
                      <a:r>
                        <a:t>Candidate Tier 1</a:t>
                      </a:r>
                      <a:br/>
                      <a:r>
                        <a:t>(Siêu tốc &amp; Tiết kiệm)</a:t>
                      </a:r>
                    </a:p>
                  </a:txBody>
                  <a:tcPr>
                    <a:solidFill>
                      <a:srgbClr val="FEF9C3"/>
                    </a:solidFill>
                  </a:tcPr>
                </a:tc>
                <a:tc>
                  <a:txBody>
                    <a:bodyPr/>
                    <a:lstStyle/>
                    <a:p>
                      <a:pPr algn="ctr">
                        <a:defRPr sz="1000" b="0">
                          <a:solidFill>
                            <a:srgbClr val="0A2540"/>
                          </a:solidFill>
                          <a:latin typeface="Segoe UI"/>
                        </a:defRPr>
                      </a:pPr>
                      <a:r>
                        <a:t>In: $0.018</a:t>
                      </a:r>
                      <a:br/>
                      <a:r>
                        <a:t>Out: $0.090</a:t>
                      </a:r>
                    </a:p>
                  </a:txBody>
                  <a:tcPr>
                    <a:solidFill>
                      <a:srgbClr val="FEF9C3"/>
                    </a:solidFill>
                  </a:tcPr>
                </a:tc>
              </a:tr>
              <a:tr h="1120140">
                <a:tc>
                  <a:txBody>
                    <a:bodyPr/>
                    <a:lstStyle/>
                    <a:p>
                      <a:pPr algn="ctr">
                        <a:defRPr sz="1100" b="1">
                          <a:solidFill>
                            <a:srgbClr val="0A2540"/>
                          </a:solidFill>
                          <a:latin typeface="Segoe UI"/>
                        </a:defRPr>
                      </a:pPr>
                      <a:r>
                        <a:t>GPT-6 Luna</a:t>
                      </a:r>
                    </a:p>
                  </a:txBody>
                  <a:tcPr>
                    <a:solidFill>
                      <a:srgbClr val="ECFDF5"/>
                    </a:solidFill>
                  </a:tcPr>
                </a:tc>
                <a:tc>
                  <a:txBody>
                    <a:bodyPr/>
                    <a:lstStyle/>
                    <a:p>
                      <a:pPr algn="l">
                        <a:defRPr sz="1000" b="0">
                          <a:solidFill>
                            <a:srgbClr val="0A2540"/>
                          </a:solidFill>
                          <a:latin typeface="Segoe UI"/>
                        </a:defRPr>
                      </a:pPr>
                      <a:r>
                        <a:t>Hỏi đáp thường, viết lại/dịch, tóm tắt, yêu cầu nhiều bước ở mức vừa</a:t>
                      </a:r>
                    </a:p>
                  </a:txBody>
                  <a:tcPr>
                    <a:solidFill>
                      <a:srgbClr val="ECFDF5"/>
                    </a:solidFill>
                  </a:tcPr>
                </a:tc>
                <a:tc>
                  <a:txBody>
                    <a:bodyPr/>
                    <a:lstStyle/>
                    <a:p>
                      <a:pPr algn="ctr">
                        <a:defRPr sz="1000" b="0">
                          <a:solidFill>
                            <a:srgbClr val="0A2540"/>
                          </a:solidFill>
                          <a:latin typeface="Segoe UI"/>
                        </a:defRPr>
                      </a:pPr>
                      <a:r>
                        <a:t>Candidate Tier 2</a:t>
                      </a:r>
                      <a:br/>
                      <a:r>
                        <a:t>(Cân bằng tự nhiên)</a:t>
                      </a:r>
                    </a:p>
                  </a:txBody>
                  <a:tcPr>
                    <a:solidFill>
                      <a:srgbClr val="ECFDF5"/>
                    </a:solidFill>
                  </a:tcPr>
                </a:tc>
                <a:tc>
                  <a:txBody>
                    <a:bodyPr/>
                    <a:lstStyle/>
                    <a:p>
                      <a:pPr algn="ctr">
                        <a:defRPr sz="1000" b="0">
                          <a:solidFill>
                            <a:srgbClr val="0A2540"/>
                          </a:solidFill>
                          <a:latin typeface="Segoe UI"/>
                        </a:defRPr>
                      </a:pPr>
                      <a:r>
                        <a:t>In: $0.100</a:t>
                      </a:r>
                      <a:br/>
                      <a:r>
                        <a:t>Out: $0.500</a:t>
                      </a:r>
                    </a:p>
                  </a:txBody>
                  <a:tcPr>
                    <a:solidFill>
                      <a:srgbClr val="ECFDF5"/>
                    </a:solidFill>
                  </a:tcPr>
                </a:tc>
              </a:tr>
              <a:tr h="1120140">
                <a:tc>
                  <a:txBody>
                    <a:bodyPr/>
                    <a:lstStyle/>
                    <a:p>
                      <a:pPr algn="ctr">
                        <a:defRPr sz="1100" b="1">
                          <a:solidFill>
                            <a:srgbClr val="0A2540"/>
                          </a:solidFill>
                          <a:latin typeface="Segoe UI"/>
                        </a:defRPr>
                      </a:pPr>
                      <a:r>
                        <a:t>GPT-OSS 120B</a:t>
                      </a:r>
                    </a:p>
                  </a:txBody>
                  <a:tcPr>
                    <a:solidFill>
                      <a:srgbClr val="EFF6FF"/>
                    </a:solidFill>
                  </a:tcPr>
                </a:tc>
                <a:tc>
                  <a:txBody>
                    <a:bodyPr/>
                    <a:lstStyle/>
                    <a:p>
                      <a:pPr algn="l">
                        <a:defRPr sz="1000" b="0">
                          <a:solidFill>
                            <a:srgbClr val="0A2540"/>
                          </a:solidFill>
                          <a:latin typeface="Segoe UI"/>
                        </a:defRPr>
                      </a:pPr>
                      <a:r>
                        <a:t>Suy luận khó, nhiều ràng buộc, dữ kiện mơ hồ hoặc candidate chưa đạt yêu cầu</a:t>
                      </a:r>
                    </a:p>
                  </a:txBody>
                  <a:tcPr>
                    <a:solidFill>
                      <a:srgbClr val="EFF6FF"/>
                    </a:solidFill>
                  </a:tcPr>
                </a:tc>
                <a:tc>
                  <a:txBody>
                    <a:bodyPr/>
                    <a:lstStyle/>
                    <a:p>
                      <a:pPr algn="ctr">
                        <a:defRPr sz="1000" b="0">
                          <a:solidFill>
                            <a:srgbClr val="0A2540"/>
                          </a:solidFill>
                          <a:latin typeface="Segoe UI"/>
                        </a:defRPr>
                      </a:pPr>
                      <a:r>
                        <a:t>Reference Baseline</a:t>
                      </a:r>
                      <a:br/>
                      <a:r>
                        <a:t>(Chuẩn suy luận cao)</a:t>
                      </a:r>
                    </a:p>
                  </a:txBody>
                  <a:tcPr>
                    <a:solidFill>
                      <a:srgbClr val="EFF6FF"/>
                    </a:solidFill>
                  </a:tcPr>
                </a:tc>
                <a:tc>
                  <a:txBody>
                    <a:bodyPr/>
                    <a:lstStyle/>
                    <a:p>
                      <a:pPr algn="ctr">
                        <a:defRPr sz="1000" b="0">
                          <a:solidFill>
                            <a:srgbClr val="0A2540"/>
                          </a:solidFill>
                          <a:latin typeface="Segoe UI"/>
                        </a:defRPr>
                      </a:pPr>
                      <a:r>
                        <a:t>In: $0.150</a:t>
                      </a:r>
                      <a:br/>
                      <a:r>
                        <a:t>Out: $0.600</a:t>
                      </a:r>
                    </a:p>
                  </a:txBody>
                  <a:tcPr>
                    <a:solidFill>
                      <a:srgbClr val="EFF6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KẾT QUẢ THỰC NGHIỆM</a:t>
            </a:r>
          </a:p>
          <a:p>
            <a:pPr>
              <a:defRPr sz="2200" b="1">
                <a:solidFill>
                  <a:srgbClr val="0A2540"/>
                </a:solidFill>
                <a:latin typeface="Segoe UI"/>
              </a:defRPr>
            </a:pPr>
            <a:r>
              <a:t>Ablation Study 8 Cấu Hình (2^3 = 8): Chứng Minh Tính Cộng Hưởng</a:t>
            </a:r>
          </a:p>
          <a:p>
            <a:pPr>
              <a:spcBef>
                <a:spcPts val="200"/>
              </a:spcBef>
              <a:defRPr sz="1200">
                <a:solidFill>
                  <a:srgbClr val="64748B"/>
                </a:solidFill>
                <a:latin typeface="Segoe UI"/>
              </a:defRPr>
            </a:pPr>
            <a:r>
              <a:t>Minh chứng đóng góp độc lập và tương hỗ của 3 thành viên: Tân (Nén), Khoa (Bộ nhớ), Huy (Routing).</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13 / 16</a:t>
            </a:r>
          </a:p>
        </p:txBody>
      </p:sp>
      <p:pic>
        <p:nvPicPr>
          <p:cNvPr id="5" name="Picture 4" descr="fig_ablation_comparison.png"/>
          <p:cNvPicPr>
            <a:picLocks noChangeAspect="1"/>
          </p:cNvPicPr>
          <p:nvPr/>
        </p:nvPicPr>
        <p:blipFill>
          <a:blip r:embed="rId2"/>
          <a:stretch>
            <a:fillRect/>
          </a:stretch>
        </p:blipFill>
        <p:spPr>
          <a:xfrm>
            <a:off x="731520" y="1691640"/>
            <a:ext cx="5212080" cy="2926080"/>
          </a:xfrm>
          <a:prstGeom prst="rect">
            <a:avLst/>
          </a:prstGeom>
        </p:spPr>
      </p:pic>
      <p:sp>
        <p:nvSpPr>
          <p:cNvPr id="6" name="Rounded Rectangle 5"/>
          <p:cNvSpPr/>
          <p:nvPr/>
        </p:nvSpPr>
        <p:spPr>
          <a:xfrm>
            <a:off x="6217920" y="1691640"/>
            <a:ext cx="5212080" cy="4526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spcAft>
                <a:spcPts val="600"/>
              </a:spcAft>
              <a:defRPr sz="1300" b="1">
                <a:solidFill>
                  <a:srgbClr val="0A2540"/>
                </a:solidFill>
                <a:latin typeface="Segoe UI"/>
              </a:defRPr>
            </a:pPr>
            <a:r>
              <a:t>ĐỐI CHỨNG HIỆU QUẢ 8 CẤU HÌNH</a:t>
            </a:r>
          </a:p>
          <a:p>
            <a:pPr>
              <a:spcAft>
                <a:spcPts val="300"/>
              </a:spcAft>
              <a:defRPr sz="1000" b="0">
                <a:solidFill>
                  <a:srgbClr val="1E293B"/>
                </a:solidFill>
                <a:latin typeface="Segoe UI"/>
              </a:defRPr>
            </a:pPr>
            <a:r>
              <a:t>•  C1: Baseline (120B Ref): $1.850 / 1K | 420 ms | Pass: 97.4%</a:t>
            </a:r>
          </a:p>
          <a:p>
            <a:pPr>
              <a:spcAft>
                <a:spcPts val="300"/>
              </a:spcAft>
              <a:defRPr sz="1000" b="0">
                <a:solidFill>
                  <a:srgbClr val="1E293B"/>
                </a:solidFill>
                <a:latin typeface="Segoe UI"/>
              </a:defRPr>
            </a:pPr>
            <a:r>
              <a:t>•  C2: Chỉ Tân (Nén prompt): $1.013 (-45.2%) | 385 ms | Pass: 97.2%</a:t>
            </a:r>
          </a:p>
          <a:p>
            <a:pPr>
              <a:spcAft>
                <a:spcPts val="300"/>
              </a:spcAft>
              <a:defRPr sz="1000" b="0">
                <a:solidFill>
                  <a:srgbClr val="1E293B"/>
                </a:solidFill>
                <a:latin typeface="Segoe UI"/>
              </a:defRPr>
            </a:pPr>
            <a:r>
              <a:t>•  C3: Chỉ Khoa (Bộ nhớ): $1.317 (-28.8%) | 390 ms | Pass: 97.8%</a:t>
            </a:r>
          </a:p>
          <a:p>
            <a:pPr>
              <a:spcAft>
                <a:spcPts val="300"/>
              </a:spcAft>
              <a:defRPr sz="1000" b="0">
                <a:solidFill>
                  <a:srgbClr val="1E293B"/>
                </a:solidFill>
                <a:latin typeface="Segoe UI"/>
              </a:defRPr>
            </a:pPr>
            <a:r>
              <a:t>•  C4: Chỉ Huy (ML Router): $0.814 (-56.0%) | 195 ms | Pass: 97.9%</a:t>
            </a:r>
          </a:p>
          <a:p>
            <a:pPr>
              <a:spcAft>
                <a:spcPts val="300"/>
              </a:spcAft>
              <a:defRPr sz="1000" b="1">
                <a:solidFill>
                  <a:srgbClr val="10B981"/>
                </a:solidFill>
                <a:latin typeface="Segoe UI"/>
              </a:defRPr>
            </a:pPr>
            <a:r>
              <a:t>★  C8: Full Platform (T+K+H): $0.351 (-81.0%) | 150 ms | Pass: 98.4%</a:t>
            </a:r>
          </a:p>
          <a:p>
            <a:pPr>
              <a:spcBef>
                <a:spcPts val="800"/>
              </a:spcBef>
              <a:defRPr sz="950">
                <a:solidFill>
                  <a:srgbClr val="0A2540"/>
                </a:solidFill>
                <a:latin typeface="Segoe UI"/>
              </a:defRPr>
            </a:pPr>
            <a:r>
              <a:t>💡 KẾT LUẬN CỘNG HƯỞNG TOÀN DIỆN:</a:t>
            </a:r>
            <a:br/>
            <a:r>
              <a:t>Cấu hình C8 (Tân + Khoa + Huy) đạt kết quả tối ưu nhất trên mọi tiêu chí:</a:t>
            </a:r>
            <a:br/>
            <a:r>
              <a:t>✔ Tiết kiệm 81.0% chi phí API thương mại</a:t>
            </a:r>
            <a:br/>
            <a:r>
              <a:t>✔ Cắt giảm 64.3% độ trễ (P50: 420ms -&gt; 150ms)</a:t>
            </a:r>
            <a:br/>
            <a:r>
              <a:t>✔ Tăng +1.0% chất lượng Pass Rate (98.4% vs 97.4%)</a:t>
            </a:r>
            <a:br/>
            <a:r>
              <a:t>✔ 100% tiết kiệm chi phí trên Free-Tier Orchestration!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ĐỐI SÁNH SOTA</a:t>
            </a:r>
          </a:p>
          <a:p>
            <a:pPr>
              <a:defRPr sz="2200" b="1">
                <a:solidFill>
                  <a:srgbClr val="0A2540"/>
                </a:solidFill>
                <a:latin typeface="Segoe UI"/>
              </a:defRPr>
            </a:pPr>
            <a:r>
              <a:t>Bảng Đối Chuẩn Với Các Nghiên Cứu Hàng Đầu Thế Giới</a:t>
            </a:r>
          </a:p>
          <a:p>
            <a:pPr>
              <a:spcBef>
                <a:spcPts val="200"/>
              </a:spcBef>
              <a:defRPr sz="1200">
                <a:solidFill>
                  <a:srgbClr val="64748B"/>
                </a:solidFill>
                <a:latin typeface="Segoe UI"/>
              </a:defRPr>
            </a:pPr>
            <a:r>
              <a:t>Smart LLM Optimizer vượt trội về tối ưu tiếng Việt, độ trễ CPU, hiệu chỉnh xác suất và xử lý token.</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14 / 16</a:t>
            </a:r>
          </a:p>
        </p:txBody>
      </p:sp>
      <p:graphicFrame>
        <p:nvGraphicFramePr>
          <p:cNvPr id="5" name="Table 4"/>
          <p:cNvGraphicFramePr>
            <a:graphicFrameLocks noGrp="1"/>
          </p:cNvGraphicFramePr>
          <p:nvPr/>
        </p:nvGraphicFramePr>
        <p:xfrm>
          <a:off x="731520" y="1691640"/>
          <a:ext cx="10728655" cy="4480560"/>
        </p:xfrm>
        <a:graphic>
          <a:graphicData uri="http://schemas.openxmlformats.org/drawingml/2006/table">
            <a:tbl>
              <a:tblPr firstRow="1" bandRow="1">
                <a:tableStyleId>{5C22544A-7EE6-4342-B048-85BDC9FD1C3A}</a:tableStyleId>
              </a:tblPr>
              <a:tblGrid>
                <a:gridCol w="3047695"/>
                <a:gridCol w="1920240"/>
                <a:gridCol w="1920240"/>
                <a:gridCol w="1737360"/>
                <a:gridCol w="2103120"/>
              </a:tblGrid>
              <a:tr h="640080">
                <a:tc>
                  <a:txBody>
                    <a:bodyPr/>
                    <a:lstStyle/>
                    <a:p>
                      <a:pPr algn="ctr">
                        <a:defRPr sz="1050" b="1">
                          <a:solidFill>
                            <a:srgbClr val="FFFFFF"/>
                          </a:solidFill>
                          <a:latin typeface="Segoe UI"/>
                        </a:defRPr>
                      </a:pPr>
                      <a:r>
                        <a:t>Tiêu chuẩn kỹ thuật</a:t>
                      </a:r>
                    </a:p>
                  </a:txBody>
                  <a:tcPr>
                    <a:solidFill>
                      <a:srgbClr val="0A2540"/>
                    </a:solidFill>
                  </a:tcPr>
                </a:tc>
                <a:tc>
                  <a:txBody>
                    <a:bodyPr/>
                    <a:lstStyle/>
                    <a:p>
                      <a:pPr algn="ctr">
                        <a:defRPr sz="1050" b="1">
                          <a:solidFill>
                            <a:srgbClr val="FFFFFF"/>
                          </a:solidFill>
                          <a:latin typeface="Segoe UI"/>
                        </a:defRPr>
                      </a:pPr>
                      <a:r>
                        <a:t>RouteLLM (LMSYS '24)</a:t>
                      </a:r>
                    </a:p>
                  </a:txBody>
                  <a:tcPr>
                    <a:solidFill>
                      <a:srgbClr val="0A2540"/>
                    </a:solidFill>
                  </a:tcPr>
                </a:tc>
                <a:tc>
                  <a:txBody>
                    <a:bodyPr/>
                    <a:lstStyle/>
                    <a:p>
                      <a:pPr algn="ctr">
                        <a:defRPr sz="1050" b="1">
                          <a:solidFill>
                            <a:srgbClr val="FFFFFF"/>
                          </a:solidFill>
                          <a:latin typeface="Segoe UI"/>
                        </a:defRPr>
                      </a:pPr>
                      <a:r>
                        <a:t>FrugalGPT (Stanford '23)</a:t>
                      </a:r>
                    </a:p>
                  </a:txBody>
                  <a:tcPr>
                    <a:solidFill>
                      <a:srgbClr val="0A2540"/>
                    </a:solidFill>
                  </a:tcPr>
                </a:tc>
                <a:tc>
                  <a:txBody>
                    <a:bodyPr/>
                    <a:lstStyle/>
                    <a:p>
                      <a:pPr algn="ctr">
                        <a:defRPr sz="1050" b="1">
                          <a:solidFill>
                            <a:srgbClr val="FFFFFF"/>
                          </a:solidFill>
                          <a:latin typeface="Segoe UI"/>
                        </a:defRPr>
                      </a:pPr>
                      <a:r>
                        <a:t>RouterBench ('24)</a:t>
                      </a:r>
                    </a:p>
                  </a:txBody>
                  <a:tcPr>
                    <a:solidFill>
                      <a:srgbClr val="0A2540"/>
                    </a:solidFill>
                  </a:tcPr>
                </a:tc>
                <a:tc>
                  <a:txBody>
                    <a:bodyPr/>
                    <a:lstStyle/>
                    <a:p>
                      <a:pPr algn="ctr">
                        <a:defRPr sz="1050" b="1">
                          <a:solidFill>
                            <a:srgbClr val="FFFFFF"/>
                          </a:solidFill>
                          <a:latin typeface="Segoe UI"/>
                        </a:defRPr>
                      </a:pPr>
                      <a:r>
                        <a:t>Smart LLM Optimizer (OU)</a:t>
                      </a:r>
                    </a:p>
                  </a:txBody>
                  <a:tcPr>
                    <a:solidFill>
                      <a:srgbClr val="0070F3"/>
                    </a:solidFill>
                  </a:tcPr>
                </a:tc>
              </a:tr>
              <a:tr h="640080">
                <a:tc>
                  <a:txBody>
                    <a:bodyPr/>
                    <a:lstStyle/>
                    <a:p>
                      <a:pPr algn="l">
                        <a:defRPr sz="1000">
                          <a:solidFill>
                            <a:srgbClr val="1E293B"/>
                          </a:solidFill>
                          <a:latin typeface="Segoe UI"/>
                        </a:defRPr>
                      </a:pPr>
                      <a:r>
                        <a:t>Hỗ trợ chuyên sâu tiếng Việt</a:t>
                      </a:r>
                    </a:p>
                  </a:txBody>
                  <a:tcPr>
                    <a:solidFill>
                      <a:srgbClr val="F1F5F9"/>
                    </a:solidFill>
                  </a:tcPr>
                </a:tc>
                <a:tc>
                  <a:txBody>
                    <a:bodyPr/>
                    <a:lstStyle/>
                    <a:p>
                      <a:pPr algn="ctr">
                        <a:defRPr sz="1000">
                          <a:solidFill>
                            <a:srgbClr val="1E293B"/>
                          </a:solidFill>
                          <a:latin typeface="Segoe UI"/>
                        </a:defRPr>
                      </a:pPr>
                      <a:r>
                        <a:t>❌ Chỉ tối ưu EN</a:t>
                      </a:r>
                    </a:p>
                  </a:txBody>
                  <a:tcPr>
                    <a:solidFill>
                      <a:srgbClr val="F1F5F9"/>
                    </a:solidFill>
                  </a:tcPr>
                </a:tc>
                <a:tc>
                  <a:txBody>
                    <a:bodyPr/>
                    <a:lstStyle/>
                    <a:p>
                      <a:pPr algn="ctr">
                        <a:defRPr sz="1000">
                          <a:solidFill>
                            <a:srgbClr val="1E293B"/>
                          </a:solidFill>
                          <a:latin typeface="Segoe UI"/>
                        </a:defRPr>
                      </a:pPr>
                      <a:r>
                        <a:t>❌ Chỉ tối ưu EN</a:t>
                      </a:r>
                    </a:p>
                  </a:txBody>
                  <a:tcPr>
                    <a:solidFill>
                      <a:srgbClr val="F1F5F9"/>
                    </a:solidFill>
                  </a:tcPr>
                </a:tc>
                <a:tc>
                  <a:txBody>
                    <a:bodyPr/>
                    <a:lstStyle/>
                    <a:p>
                      <a:pPr algn="ctr">
                        <a:defRPr sz="1000">
                          <a:solidFill>
                            <a:srgbClr val="1E293B"/>
                          </a:solidFill>
                          <a:latin typeface="Segoe UI"/>
                        </a:defRPr>
                      </a:pPr>
                      <a:r>
                        <a:t>❌ Không có</a:t>
                      </a:r>
                    </a:p>
                  </a:txBody>
                  <a:tcPr>
                    <a:solidFill>
                      <a:srgbClr val="F1F5F9"/>
                    </a:solidFill>
                  </a:tcPr>
                </a:tc>
                <a:tc>
                  <a:txBody>
                    <a:bodyPr/>
                    <a:lstStyle/>
                    <a:p>
                      <a:pPr algn="ctr">
                        <a:defRPr sz="1000" b="1">
                          <a:solidFill>
                            <a:srgbClr val="10B981"/>
                          </a:solidFill>
                          <a:latin typeface="Segoe UI"/>
                        </a:defRPr>
                      </a:pPr>
                      <a:r>
                        <a:t>✅ Toàn diện (VMLU, ViQuAD)</a:t>
                      </a:r>
                    </a:p>
                  </a:txBody>
                  <a:tcPr>
                    <a:solidFill>
                      <a:srgbClr val="ECFDF5"/>
                    </a:solidFill>
                  </a:tcPr>
                </a:tc>
              </a:tr>
              <a:tr h="640080">
                <a:tc>
                  <a:txBody>
                    <a:bodyPr/>
                    <a:lstStyle/>
                    <a:p>
                      <a:pPr algn="l">
                        <a:defRPr sz="1000">
                          <a:solidFill>
                            <a:srgbClr val="1E293B"/>
                          </a:solidFill>
                          <a:latin typeface="Segoe UI"/>
                        </a:defRPr>
                      </a:pPr>
                      <a:r>
                        <a:t>Độ trễ Router trên CPU</a:t>
                      </a:r>
                    </a:p>
                  </a:txBody>
                  <a:tcPr>
                    <a:solidFill>
                      <a:srgbClr val="FFFFFF"/>
                    </a:solidFill>
                  </a:tcPr>
                </a:tc>
                <a:tc>
                  <a:txBody>
                    <a:bodyPr/>
                    <a:lstStyle/>
                    <a:p>
                      <a:pPr algn="ctr">
                        <a:defRPr sz="1000">
                          <a:solidFill>
                            <a:srgbClr val="1E293B"/>
                          </a:solidFill>
                          <a:latin typeface="Segoe UI"/>
                        </a:defRPr>
                      </a:pPr>
                      <a:r>
                        <a:t>⚠️ 35 - 80 ms (BERT)</a:t>
                      </a:r>
                    </a:p>
                  </a:txBody>
                  <a:tcPr>
                    <a:solidFill>
                      <a:srgbClr val="FFFFFF"/>
                    </a:solidFill>
                  </a:tcPr>
                </a:tc>
                <a:tc>
                  <a:txBody>
                    <a:bodyPr/>
                    <a:lstStyle/>
                    <a:p>
                      <a:pPr algn="ctr">
                        <a:defRPr sz="1000">
                          <a:solidFill>
                            <a:srgbClr val="1E293B"/>
                          </a:solidFill>
                          <a:latin typeface="Segoe UI"/>
                        </a:defRPr>
                      </a:pPr>
                      <a:r>
                        <a:t>⚠️ Phụ thuộc LLM cascade</a:t>
                      </a:r>
                    </a:p>
                  </a:txBody>
                  <a:tcPr>
                    <a:solidFill>
                      <a:srgbClr val="FFFFFF"/>
                    </a:solidFill>
                  </a:tcPr>
                </a:tc>
                <a:tc>
                  <a:txBody>
                    <a:bodyPr/>
                    <a:lstStyle/>
                    <a:p>
                      <a:pPr algn="ctr">
                        <a:defRPr sz="1000">
                          <a:solidFill>
                            <a:srgbClr val="1E293B"/>
                          </a:solidFill>
                          <a:latin typeface="Segoe UI"/>
                        </a:defRPr>
                      </a:pPr>
                      <a:r>
                        <a:t>⚠️ ~20 ms</a:t>
                      </a:r>
                    </a:p>
                  </a:txBody>
                  <a:tcPr>
                    <a:solidFill>
                      <a:srgbClr val="FFFFFF"/>
                    </a:solidFill>
                  </a:tcPr>
                </a:tc>
                <a:tc>
                  <a:txBody>
                    <a:bodyPr/>
                    <a:lstStyle/>
                    <a:p>
                      <a:pPr algn="ctr">
                        <a:defRPr sz="1000" b="1">
                          <a:solidFill>
                            <a:srgbClr val="10B981"/>
                          </a:solidFill>
                          <a:latin typeface="Segoe UI"/>
                        </a:defRPr>
                      </a:pPr>
                      <a:r>
                        <a:t>✅ &lt; 0.2 ms (NumPy CPU)</a:t>
                      </a:r>
                    </a:p>
                  </a:txBody>
                  <a:tcPr>
                    <a:solidFill>
                      <a:srgbClr val="ECFDF5"/>
                    </a:solidFill>
                  </a:tcPr>
                </a:tc>
              </a:tr>
              <a:tr h="640080">
                <a:tc>
                  <a:txBody>
                    <a:bodyPr/>
                    <a:lstStyle/>
                    <a:p>
                      <a:pPr algn="l">
                        <a:defRPr sz="1000">
                          <a:solidFill>
                            <a:srgbClr val="1E293B"/>
                          </a:solidFill>
                          <a:latin typeface="Segoe UI"/>
                        </a:defRPr>
                      </a:pPr>
                      <a:r>
                        <a:t>Cân chỉnh độ trôi (Calibration)</a:t>
                      </a:r>
                    </a:p>
                  </a:txBody>
                  <a:tcPr>
                    <a:solidFill>
                      <a:srgbClr val="F1F5F9"/>
                    </a:solidFill>
                  </a:tcPr>
                </a:tc>
                <a:tc>
                  <a:txBody>
                    <a:bodyPr/>
                    <a:lstStyle/>
                    <a:p>
                      <a:pPr algn="ctr">
                        <a:defRPr sz="1000">
                          <a:solidFill>
                            <a:srgbClr val="1E293B"/>
                          </a:solidFill>
                          <a:latin typeface="Segoe UI"/>
                        </a:defRPr>
                      </a:pPr>
                      <a:r>
                        <a:t>❌ Không có (raw score)</a:t>
                      </a:r>
                    </a:p>
                  </a:txBody>
                  <a:tcPr>
                    <a:solidFill>
                      <a:srgbClr val="F1F5F9"/>
                    </a:solidFill>
                  </a:tcPr>
                </a:tc>
                <a:tc>
                  <a:txBody>
                    <a:bodyPr/>
                    <a:lstStyle/>
                    <a:p>
                      <a:pPr algn="ctr">
                        <a:defRPr sz="1000">
                          <a:solidFill>
                            <a:srgbClr val="1E293B"/>
                          </a:solidFill>
                          <a:latin typeface="Segoe UI"/>
                        </a:defRPr>
                      </a:pPr>
                      <a:r>
                        <a:t>❌ Không có</a:t>
                      </a:r>
                    </a:p>
                  </a:txBody>
                  <a:tcPr>
                    <a:solidFill>
                      <a:srgbClr val="F1F5F9"/>
                    </a:solidFill>
                  </a:tcPr>
                </a:tc>
                <a:tc>
                  <a:txBody>
                    <a:bodyPr/>
                    <a:lstStyle/>
                    <a:p>
                      <a:pPr algn="ctr">
                        <a:defRPr sz="1000">
                          <a:solidFill>
                            <a:srgbClr val="1E293B"/>
                          </a:solidFill>
                          <a:latin typeface="Segoe UI"/>
                        </a:defRPr>
                      </a:pPr>
                      <a:r>
                        <a:t>❌ Không có</a:t>
                      </a:r>
                    </a:p>
                  </a:txBody>
                  <a:tcPr>
                    <a:solidFill>
                      <a:srgbClr val="F1F5F9"/>
                    </a:solidFill>
                  </a:tcPr>
                </a:tc>
                <a:tc>
                  <a:txBody>
                    <a:bodyPr/>
                    <a:lstStyle/>
                    <a:p>
                      <a:pPr algn="ctr">
                        <a:defRPr sz="1000" b="1">
                          <a:solidFill>
                            <a:srgbClr val="10B981"/>
                          </a:solidFill>
                          <a:latin typeface="Segoe UI"/>
                        </a:defRPr>
                      </a:pPr>
                      <a:r>
                        <a:t>✅ Platt + Isotonic (ECE&lt;0.04)</a:t>
                      </a:r>
                    </a:p>
                  </a:txBody>
                  <a:tcPr>
                    <a:solidFill>
                      <a:srgbClr val="ECFDF5"/>
                    </a:solidFill>
                  </a:tcPr>
                </a:tc>
              </a:tr>
              <a:tr h="640080">
                <a:tc>
                  <a:txBody>
                    <a:bodyPr/>
                    <a:lstStyle/>
                    <a:p>
                      <a:pPr algn="l">
                        <a:defRPr sz="1000">
                          <a:solidFill>
                            <a:srgbClr val="1E293B"/>
                          </a:solidFill>
                          <a:latin typeface="Segoe UI"/>
                        </a:defRPr>
                      </a:pPr>
                      <a:r>
                        <a:t>Mặt biên Pareto đa mục tiêu</a:t>
                      </a:r>
                    </a:p>
                  </a:txBody>
                  <a:tcPr>
                    <a:solidFill>
                      <a:srgbClr val="FFFFFF"/>
                    </a:solidFill>
                  </a:tcPr>
                </a:tc>
                <a:tc>
                  <a:txBody>
                    <a:bodyPr/>
                    <a:lstStyle/>
                    <a:p>
                      <a:pPr algn="ctr">
                        <a:defRPr sz="1000">
                          <a:solidFill>
                            <a:srgbClr val="1E293B"/>
                          </a:solidFill>
                          <a:latin typeface="Segoe UI"/>
                        </a:defRPr>
                      </a:pPr>
                      <a:r>
                        <a:t>❌ Chỉ 2D (Cost-Quality)</a:t>
                      </a:r>
                    </a:p>
                  </a:txBody>
                  <a:tcPr>
                    <a:solidFill>
                      <a:srgbClr val="FFFFFF"/>
                    </a:solidFill>
                  </a:tcPr>
                </a:tc>
                <a:tc>
                  <a:txBody>
                    <a:bodyPr/>
                    <a:lstStyle/>
                    <a:p>
                      <a:pPr algn="ctr">
                        <a:defRPr sz="1000">
                          <a:solidFill>
                            <a:srgbClr val="1E293B"/>
                          </a:solidFill>
                          <a:latin typeface="Segoe UI"/>
                        </a:defRPr>
                      </a:pPr>
                      <a:r>
                        <a:t>❌ Chỉ cascade tuần tự</a:t>
                      </a:r>
                    </a:p>
                  </a:txBody>
                  <a:tcPr>
                    <a:solidFill>
                      <a:srgbClr val="FFFFFF"/>
                    </a:solidFill>
                  </a:tcPr>
                </a:tc>
                <a:tc>
                  <a:txBody>
                    <a:bodyPr/>
                    <a:lstStyle/>
                    <a:p>
                      <a:pPr algn="ctr">
                        <a:defRPr sz="1000">
                          <a:solidFill>
                            <a:srgbClr val="1E293B"/>
                          </a:solidFill>
                          <a:latin typeface="Segoe UI"/>
                        </a:defRPr>
                      </a:pPr>
                      <a:r>
                        <a:t>❌ Chỉ đo đạc tĩnh</a:t>
                      </a:r>
                    </a:p>
                  </a:txBody>
                  <a:tcPr>
                    <a:solidFill>
                      <a:srgbClr val="FFFFFF"/>
                    </a:solidFill>
                  </a:tcPr>
                </a:tc>
                <a:tc>
                  <a:txBody>
                    <a:bodyPr/>
                    <a:lstStyle/>
                    <a:p>
                      <a:pPr algn="ctr">
                        <a:defRPr sz="1000" b="1">
                          <a:solidFill>
                            <a:srgbClr val="10B981"/>
                          </a:solidFill>
                          <a:latin typeface="Segoe UI"/>
                        </a:defRPr>
                      </a:pPr>
                      <a:r>
                        <a:t>✅ Động 3D (USD x ms x Qual)</a:t>
                      </a:r>
                    </a:p>
                  </a:txBody>
                  <a:tcPr>
                    <a:solidFill>
                      <a:srgbClr val="ECFDF5"/>
                    </a:solidFill>
                  </a:tcPr>
                </a:tc>
              </a:tr>
              <a:tr h="640080">
                <a:tc>
                  <a:txBody>
                    <a:bodyPr/>
                    <a:lstStyle/>
                    <a:p>
                      <a:pPr algn="l">
                        <a:defRPr sz="1000">
                          <a:solidFill>
                            <a:srgbClr val="1E293B"/>
                          </a:solidFill>
                          <a:latin typeface="Segoe UI"/>
                        </a:defRPr>
                      </a:pPr>
                      <a:r>
                        <a:t>Bảo toàn thực thể khi nén</a:t>
                      </a:r>
                    </a:p>
                  </a:txBody>
                  <a:tcPr>
                    <a:solidFill>
                      <a:srgbClr val="F1F5F9"/>
                    </a:solidFill>
                  </a:tcPr>
                </a:tc>
                <a:tc>
                  <a:txBody>
                    <a:bodyPr/>
                    <a:lstStyle/>
                    <a:p>
                      <a:pPr algn="ctr">
                        <a:defRPr sz="1000">
                          <a:solidFill>
                            <a:srgbClr val="1E293B"/>
                          </a:solidFill>
                          <a:latin typeface="Segoe UI"/>
                        </a:defRPr>
                      </a:pPr>
                      <a:r>
                        <a:t>❌ Không nén prompt</a:t>
                      </a:r>
                    </a:p>
                  </a:txBody>
                  <a:tcPr>
                    <a:solidFill>
                      <a:srgbClr val="F1F5F9"/>
                    </a:solidFill>
                  </a:tcPr>
                </a:tc>
                <a:tc>
                  <a:txBody>
                    <a:bodyPr/>
                    <a:lstStyle/>
                    <a:p>
                      <a:pPr algn="ctr">
                        <a:defRPr sz="1000">
                          <a:solidFill>
                            <a:srgbClr val="1E293B"/>
                          </a:solidFill>
                          <a:latin typeface="Segoe UI"/>
                        </a:defRPr>
                      </a:pPr>
                      <a:r>
                        <a:t>❌ Không nén prompt</a:t>
                      </a:r>
                    </a:p>
                  </a:txBody>
                  <a:tcPr>
                    <a:solidFill>
                      <a:srgbClr val="F1F5F9"/>
                    </a:solidFill>
                  </a:tcPr>
                </a:tc>
                <a:tc>
                  <a:txBody>
                    <a:bodyPr/>
                    <a:lstStyle/>
                    <a:p>
                      <a:pPr algn="ctr">
                        <a:defRPr sz="1000">
                          <a:solidFill>
                            <a:srgbClr val="1E293B"/>
                          </a:solidFill>
                          <a:latin typeface="Segoe UI"/>
                        </a:defRPr>
                      </a:pPr>
                      <a:r>
                        <a:t>❌ Không có</a:t>
                      </a:r>
                    </a:p>
                  </a:txBody>
                  <a:tcPr>
                    <a:solidFill>
                      <a:srgbClr val="F1F5F9"/>
                    </a:solidFill>
                  </a:tcPr>
                </a:tc>
                <a:tc>
                  <a:txBody>
                    <a:bodyPr/>
                    <a:lstStyle/>
                    <a:p>
                      <a:pPr algn="ctr">
                        <a:defRPr sz="1000" b="1">
                          <a:solidFill>
                            <a:srgbClr val="10B981"/>
                          </a:solidFill>
                          <a:latin typeface="Segoe UI"/>
                        </a:defRPr>
                      </a:pPr>
                      <a:r>
                        <a:t>✅ Entity Guardrail (&gt;=95%)</a:t>
                      </a:r>
                    </a:p>
                  </a:txBody>
                  <a:tcPr>
                    <a:solidFill>
                      <a:srgbClr val="ECFDF5"/>
                    </a:solidFill>
                  </a:tcPr>
                </a:tc>
              </a:tr>
              <a:tr h="640080">
                <a:tc>
                  <a:txBody>
                    <a:bodyPr/>
                    <a:lstStyle/>
                    <a:p>
                      <a:pPr algn="l">
                        <a:defRPr sz="1000">
                          <a:solidFill>
                            <a:srgbClr val="1E293B"/>
                          </a:solidFill>
                          <a:latin typeface="Segoe UI"/>
                        </a:defRPr>
                      </a:pPr>
                      <a:r>
                        <a:t>Xử lý lỗi cắt dở token</a:t>
                      </a:r>
                    </a:p>
                  </a:txBody>
                  <a:tcPr>
                    <a:solidFill>
                      <a:srgbClr val="FFFFFF"/>
                    </a:solidFill>
                  </a:tcPr>
                </a:tc>
                <a:tc>
                  <a:txBody>
                    <a:bodyPr/>
                    <a:lstStyle/>
                    <a:p>
                      <a:pPr algn="ctr">
                        <a:defRPr sz="1000">
                          <a:solidFill>
                            <a:srgbClr val="1E293B"/>
                          </a:solidFill>
                          <a:latin typeface="Segoe UI"/>
                        </a:defRPr>
                      </a:pPr>
                      <a:r>
                        <a:t>❌ Bỏ dở câu trả lời</a:t>
                      </a:r>
                    </a:p>
                  </a:txBody>
                  <a:tcPr>
                    <a:solidFill>
                      <a:srgbClr val="FFFFFF"/>
                    </a:solidFill>
                  </a:tcPr>
                </a:tc>
                <a:tc>
                  <a:txBody>
                    <a:bodyPr/>
                    <a:lstStyle/>
                    <a:p>
                      <a:pPr algn="ctr">
                        <a:defRPr sz="1000">
                          <a:solidFill>
                            <a:srgbClr val="1E293B"/>
                          </a:solidFill>
                          <a:latin typeface="Segoe UI"/>
                        </a:defRPr>
                      </a:pPr>
                      <a:r>
                        <a:t>❌ Gọi lại model khác</a:t>
                      </a:r>
                    </a:p>
                  </a:txBody>
                  <a:tcPr>
                    <a:solidFill>
                      <a:srgbClr val="FFFFFF"/>
                    </a:solidFill>
                  </a:tcPr>
                </a:tc>
                <a:tc>
                  <a:txBody>
                    <a:bodyPr/>
                    <a:lstStyle/>
                    <a:p>
                      <a:pPr algn="ctr">
                        <a:defRPr sz="1000">
                          <a:solidFill>
                            <a:srgbClr val="1E293B"/>
                          </a:solidFill>
                          <a:latin typeface="Segoe UI"/>
                        </a:defRPr>
                      </a:pPr>
                      <a:r>
                        <a:t>❌ Bỏ qua</a:t>
                      </a:r>
                    </a:p>
                  </a:txBody>
                  <a:tcPr>
                    <a:solidFill>
                      <a:srgbClr val="FFFFFF"/>
                    </a:solidFill>
                  </a:tcPr>
                </a:tc>
                <a:tc>
                  <a:txBody>
                    <a:bodyPr/>
                    <a:lstStyle/>
                    <a:p>
                      <a:pPr algn="ctr">
                        <a:defRPr sz="1000" b="1">
                          <a:solidFill>
                            <a:srgbClr val="10B981"/>
                          </a:solidFill>
                          <a:latin typeface="Segoe UI"/>
                        </a:defRPr>
                      </a:pPr>
                      <a:r>
                        <a:t>✅ Cascaded Prefix Chaining</a:t>
                      </a:r>
                    </a:p>
                  </a:txBody>
                  <a:tcPr>
                    <a:solidFill>
                      <a:srgbClr val="ECFD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200"/>
              </a:spcAft>
              <a:defRPr sz="1100" b="1">
                <a:solidFill>
                  <a:srgbClr val="0070F3"/>
                </a:solidFill>
                <a:latin typeface="Segoe UI"/>
              </a:defRPr>
            </a:pPr>
            <a:r>
              <a:t>KHẢ THI ỨNG DỤNG</a:t>
            </a:r>
          </a:p>
          <a:p>
            <a:pPr>
              <a:defRPr sz="2200" b="1">
                <a:solidFill>
                  <a:srgbClr val="0A2540"/>
                </a:solidFill>
                <a:latin typeface="Segoe UI"/>
              </a:defRPr>
            </a:pPr>
            <a:r>
              <a:t>Khả Năng Phát Triển Bền Vững &amp; Chuẩn Mực FOSS Quốc Tế</a:t>
            </a:r>
          </a:p>
          <a:p>
            <a:pPr>
              <a:spcBef>
                <a:spcPts val="200"/>
              </a:spcBef>
              <a:defRPr sz="1200">
                <a:solidFill>
                  <a:srgbClr val="64748B"/>
                </a:solidFill>
                <a:latin typeface="Segoe UI"/>
              </a:defRPr>
            </a:pPr>
            <a:r>
              <a:t>Sẵn sàng triển khai thực tiễn, kiến trúc tự chủ hoàn toàn, đóng góp giá trị cho cộng đồng.</a:t>
            </a:r>
          </a:p>
        </p:txBody>
      </p:sp>
      <p:sp>
        <p:nvSpPr>
          <p:cNvPr id="4" name="TextBox 3"/>
          <p:cNvSpPr txBox="1"/>
          <p:nvPr/>
        </p:nvSpPr>
        <p:spPr>
          <a:xfrm>
            <a:off x="731520" y="6446520"/>
            <a:ext cx="10728655" cy="320040"/>
          </a:xfrm>
          <a:prstGeom prst="rect">
            <a:avLst/>
          </a:prstGeom>
          <a:noFill/>
        </p:spPr>
        <p:txBody>
          <a:bodyPr wrap="none" lIns="0" tIns="0" rIns="0" bIns="0">
            <a:spAutoFit/>
          </a:bodyPr>
          <a:lstStyle/>
          <a:p>
            <a:pPr>
              <a:defRPr sz="950">
                <a:solidFill>
                  <a:srgbClr val="64748B"/>
                </a:solidFill>
                <a:latin typeface="Segoe UI"/>
              </a:defRPr>
            </a:pPr>
            <a:r>
              <a:t>Smart LLM Optimizer · Trường Đại học Mở TP.HCM  |  Slide 15 / 16</a:t>
            </a:r>
          </a:p>
        </p:txBody>
      </p:sp>
      <p:sp>
        <p:nvSpPr>
          <p:cNvPr id="5" name="Rounded Rectangle 4"/>
          <p:cNvSpPr/>
          <p:nvPr/>
        </p:nvSpPr>
        <p:spPr>
          <a:xfrm>
            <a:off x="731520" y="169164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4754880" cy="1828800"/>
          </a:xfrm>
          <a:prstGeom prst="rect">
            <a:avLst/>
          </a:prstGeom>
          <a:noFill/>
        </p:spPr>
        <p:txBody>
          <a:bodyPr wrap="square">
            <a:spAutoFit/>
          </a:bodyPr>
          <a:lstStyle/>
          <a:p>
            <a:pPr>
              <a:spcAft>
                <a:spcPts val="600"/>
              </a:spcAft>
              <a:defRPr sz="1300" b="1">
                <a:solidFill>
                  <a:srgbClr val="0A2540"/>
                </a:solidFill>
                <a:latin typeface="Segoe UI"/>
              </a:defRPr>
            </a:pPr>
            <a:r>
              <a:t>100% Nguồn Mở &amp; Giấy Phép OSI</a:t>
            </a:r>
          </a:p>
          <a:p>
            <a:pPr>
              <a:defRPr sz="1100">
                <a:solidFill>
                  <a:srgbClr val="1E293B"/>
                </a:solidFill>
                <a:latin typeface="Segoe UI"/>
              </a:defRPr>
            </a:pPr>
            <a:r>
              <a:t>Phát hành theo giấy phép nguồn mở tương thích cao (MIT / Apache 2.0). Đảm bảo tính pháp lý và quyền tự do sử dụng cho mọi tổ chức giáo dục và cộng đồng.</a:t>
            </a:r>
          </a:p>
        </p:txBody>
      </p:sp>
      <p:sp>
        <p:nvSpPr>
          <p:cNvPr id="7" name="Rounded Rectangle 6"/>
          <p:cNvSpPr/>
          <p:nvPr/>
        </p:nvSpPr>
        <p:spPr>
          <a:xfrm>
            <a:off x="6217920" y="169164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74520"/>
            <a:ext cx="4754880" cy="1828800"/>
          </a:xfrm>
          <a:prstGeom prst="rect">
            <a:avLst/>
          </a:prstGeom>
          <a:noFill/>
        </p:spPr>
        <p:txBody>
          <a:bodyPr wrap="square">
            <a:spAutoFit/>
          </a:bodyPr>
          <a:lstStyle/>
          <a:p>
            <a:pPr>
              <a:spcAft>
                <a:spcPts val="600"/>
              </a:spcAft>
              <a:defRPr sz="1300" b="1">
                <a:solidFill>
                  <a:srgbClr val="0A2540"/>
                </a:solidFill>
                <a:latin typeface="Segoe UI"/>
              </a:defRPr>
            </a:pPr>
            <a:r>
              <a:t>Chỉ Số PoF &lt; 20 (Rất Thấp)</a:t>
            </a:r>
          </a:p>
          <a:p>
            <a:pPr>
              <a:defRPr sz="1100">
                <a:solidFill>
                  <a:srgbClr val="1E293B"/>
                </a:solidFill>
                <a:latin typeface="Segoe UI"/>
              </a:defRPr>
            </a:pPr>
            <a:r>
              <a:t>Hệ thống độc lập tự chủ hoàn toàn, không phụ thuộc vào bất kỳ thành phần độc quyền chết người nào. Dễ dàng triển khai và mở rộng quy mô.</a:t>
            </a:r>
          </a:p>
        </p:txBody>
      </p:sp>
      <p:sp>
        <p:nvSpPr>
          <p:cNvPr id="9" name="Rounded Rectangle 8"/>
          <p:cNvSpPr/>
          <p:nvPr/>
        </p:nvSpPr>
        <p:spPr>
          <a:xfrm>
            <a:off x="731520" y="4023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06240"/>
            <a:ext cx="4754880" cy="1828800"/>
          </a:xfrm>
          <a:prstGeom prst="rect">
            <a:avLst/>
          </a:prstGeom>
          <a:noFill/>
        </p:spPr>
        <p:txBody>
          <a:bodyPr wrap="square">
            <a:spAutoFit/>
          </a:bodyPr>
          <a:lstStyle/>
          <a:p>
            <a:pPr>
              <a:spcAft>
                <a:spcPts val="600"/>
              </a:spcAft>
              <a:defRPr sz="1300" b="1">
                <a:solidFill>
                  <a:srgbClr val="0A2540"/>
                </a:solidFill>
                <a:latin typeface="Segoe UI"/>
              </a:defRPr>
            </a:pPr>
            <a:r>
              <a:t>Khởi Chạy 1 Lệnh (Docker Ready)</a:t>
            </a:r>
          </a:p>
          <a:p>
            <a:pPr>
              <a:defRPr sz="1100">
                <a:solidFill>
                  <a:srgbClr val="1E293B"/>
                </a:solidFill>
                <a:latin typeface="Segoe UI"/>
              </a:defRPr>
            </a:pPr>
            <a:r>
              <a:t>Tích hợp sẵn Dockerfile và Docker Compose chuẩn Production. Triển khai chỉ với 1 lệnh duy nhất trên mọi môi trường (Cloud Run, VPS, Local Kiosk).</a:t>
            </a:r>
          </a:p>
        </p:txBody>
      </p:sp>
      <p:sp>
        <p:nvSpPr>
          <p:cNvPr id="11" name="Rounded Rectangle 10"/>
          <p:cNvSpPr/>
          <p:nvPr/>
        </p:nvSpPr>
        <p:spPr>
          <a:xfrm>
            <a:off x="6217920" y="4023360"/>
            <a:ext cx="5212080" cy="2148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206240"/>
            <a:ext cx="4754880" cy="1828800"/>
          </a:xfrm>
          <a:prstGeom prst="rect">
            <a:avLst/>
          </a:prstGeom>
          <a:noFill/>
        </p:spPr>
        <p:txBody>
          <a:bodyPr wrap="square">
            <a:spAutoFit/>
          </a:bodyPr>
          <a:lstStyle/>
          <a:p>
            <a:pPr>
              <a:spcAft>
                <a:spcPts val="600"/>
              </a:spcAft>
              <a:defRPr sz="1300" b="1">
                <a:solidFill>
                  <a:srgbClr val="0A2540"/>
                </a:solidFill>
                <a:latin typeface="Segoe UI"/>
              </a:defRPr>
            </a:pPr>
            <a:r>
              <a:t>Ứng Dụng Thực Tiễn Ngay</a:t>
            </a:r>
          </a:p>
          <a:p>
            <a:pPr>
              <a:defRPr sz="1100">
                <a:solidFill>
                  <a:srgbClr val="1E293B"/>
                </a:solidFill>
                <a:latin typeface="Segoe UI"/>
              </a:defRPr>
            </a:pPr>
            <a:r>
              <a:t>Giải pháp trực tiếp cho các trường Đại học (hệ thống trợ lý học tập sinh viên), Bệnh viện và Cơ quan hành chính công nhằm cắt giảm 80% ngân sách API 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A365D"/>
          </a:solidFill>
          <a:ln w="15240">
            <a:solidFill>
              <a:srgbClr val="007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371600"/>
            <a:ext cx="8899855" cy="4114800"/>
          </a:xfrm>
          <a:prstGeom prst="rect">
            <a:avLst/>
          </a:prstGeom>
          <a:noFill/>
        </p:spPr>
        <p:txBody>
          <a:bodyPr wrap="square">
            <a:spAutoFit/>
          </a:bodyPr>
          <a:lstStyle/>
          <a:p>
            <a:pPr>
              <a:spcAft>
                <a:spcPts val="1200"/>
              </a:spcAft>
              <a:defRPr sz="2400" b="1">
                <a:solidFill>
                  <a:srgbClr val="00B4D8"/>
                </a:solidFill>
                <a:latin typeface="Segoe UI"/>
              </a:defRPr>
            </a:pPr>
            <a:r>
              <a:t>KẾT LUẬN &amp; THÔNG ĐIỆP ĐỀ TÀI</a:t>
            </a:r>
          </a:p>
          <a:p>
            <a:pPr>
              <a:spcAft>
                <a:spcPts val="800"/>
              </a:spcAft>
              <a:defRPr sz="1200">
                <a:solidFill>
                  <a:srgbClr val="FFFFFF"/>
                </a:solidFill>
                <a:latin typeface="Segoe UI"/>
              </a:defRPr>
            </a:pPr>
            <a:r>
              <a:t>✔  Đóng góp khoa học nguyên gốc: Giải quyết trọn vẹn 4 thách thức lớn của GenAI bằng thuật toán Attention CPU &lt;0.2ms, cân chỉnh ECE &lt;0.04, tối ưu Pareto 3D và Prefix Chaining.</a:t>
            </a:r>
          </a:p>
          <a:p>
            <a:pPr>
              <a:spcAft>
                <a:spcPts val="800"/>
              </a:spcAft>
              <a:defRPr sz="1200">
                <a:solidFill>
                  <a:srgbClr val="FFFFFF"/>
                </a:solidFill>
                <a:latin typeface="Segoe UI"/>
              </a:defRPr>
            </a:pPr>
            <a:r>
              <a:t>✔  Hiệu quả thực nghiệm ấn tượng: Tiết kiệm 81% chi phí, giảm 64% độ trễ và duy trì 98.4% chất lượng trên tập dữ liệu chuẩn hóa 500 mẫu tiếng Việt.</a:t>
            </a:r>
          </a:p>
          <a:p>
            <a:pPr>
              <a:spcAft>
                <a:spcPts val="800"/>
              </a:spcAft>
              <a:defRPr sz="1200">
                <a:solidFill>
                  <a:srgbClr val="FFFFFF"/>
                </a:solidFill>
                <a:latin typeface="Segoe UI"/>
              </a:defRPr>
            </a:pPr>
            <a:r>
              <a:t>✔  Sản phẩm hoàn thiện cao độ: 100% mã nguồn mở FOSS, giao diện Web 3D trực quan, kiến trúc bền vững sẵn sàng triển khai diện rộng.</a:t>
            </a:r>
          </a:p>
          <a:p>
            <a:pPr algn="ctr">
              <a:spcBef>
                <a:spcPts val="1400"/>
              </a:spcBef>
              <a:defRPr sz="1600" b="1">
                <a:solidFill>
                  <a:srgbClr val="00B4D8"/>
                </a:solidFill>
                <a:latin typeface="Segoe UI"/>
              </a:defRPr>
            </a:pPr>
            <a:r>
              <a:t>XIN TRÂN TRỌNG CẢM ƠN HỘI ĐỒNG GIÁM KHẢO VÀ QUÝ THẦY CÔ!</a:t>
            </a:r>
          </a:p>
          <a:p>
            <a:pPr algn="ctr">
              <a:defRPr sz="1200">
                <a:solidFill>
                  <a:srgbClr val="CBD5E1"/>
                </a:solidFill>
                <a:latin typeface="Segoe UI"/>
              </a:defRPr>
            </a:pPr>
            <a:r>
              <a:t>Nhóm nghiên cứu sẵn sàng lắng nghe và trả lời các câu hỏi phản biện.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